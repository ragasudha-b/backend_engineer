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70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9144000"/>
  <p:embeddedFontLst>
    <p:embeddedFont>
      <p:font typeface="Roboto" panose="020B0604020202020204" charset="0"/>
      <p:regular r:id="rId18"/>
      <p:bold r:id="rId19"/>
      <p:italic r:id="rId20"/>
      <p:boldItalic r:id="rId21"/>
    </p:embeddedFont>
    <p:embeddedFont>
      <p:font typeface="Gill Sans" panose="020B0604020202020204" charset="0"/>
      <p:regular r:id="rId22"/>
      <p:bold r:id="rId23"/>
    </p:embeddedFon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Arial Narrow" panose="020B0606020202030204" pitchFamily="34" charset="0"/>
      <p:regular r:id="rId28"/>
      <p:bold r:id="rId29"/>
      <p:italic r:id="rId30"/>
      <p:boldItalic r:id="rId31"/>
    </p:embeddedFont>
    <p:embeddedFont>
      <p:font typeface="Verdana" panose="020B0604030504040204" pitchFamily="34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6" roundtripDataSignature="AMtx7mhSaCjSgvaA3X57Iy9xl4JuBtaj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468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font" Target="fonts/font1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font" Target="fonts/font1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6266707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" name="Google Shape;10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999765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1" name="Google Shape;11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669916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332534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587838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87d7ab33d_0_5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f87d7ab33d_0_5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g3f87d7ab33d_0_5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904873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ae8eda3f0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fae8eda3f0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g3fae8eda3f0_0_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98860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4" name="Google Shape;18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667345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f87d7ab33d_1_4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f87d7ab33d_1_4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g3f87d7ab33d_1_47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285379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f87d7ab33d_1_4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f87d7ab33d_1_4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g3f87d7ab33d_1_47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00886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f87d7ab33d_1_4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f87d7ab33d_1_4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g3f87d7ab33d_1_47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99388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f87d7ab33d_1_4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f87d7ab33d_1_4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g3f87d7ab33d_1_48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0275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f87e75da16_0_2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f87e75da16_0_2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g3f87e75da16_0_26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473060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f87d7ab33d_1_4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f87d7ab33d_1_4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g3f87d7ab33d_1_46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587137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126316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8" name="Google Shape;22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642701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9"/>
          <p:cNvSpPr txBox="1">
            <a:spLocks noGrp="1"/>
          </p:cNvSpPr>
          <p:nvPr>
            <p:ph type="ctrTitle"/>
          </p:nvPr>
        </p:nvSpPr>
        <p:spPr>
          <a:xfrm>
            <a:off x="1910080" y="359898"/>
            <a:ext cx="9875520" cy="1472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9"/>
          <p:cNvSpPr txBox="1">
            <a:spLocks noGrp="1"/>
          </p:cNvSpPr>
          <p:nvPr>
            <p:ph type="subTitle" idx="1"/>
          </p:nvPr>
        </p:nvSpPr>
        <p:spPr>
          <a:xfrm>
            <a:off x="1910080" y="1850064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80"/>
              <a:buNone/>
              <a:defRPr sz="2600">
                <a:solidFill>
                  <a:srgbClr val="341108"/>
                </a:solidFill>
              </a:defRPr>
            </a:lvl1pPr>
            <a:lvl2pPr lvl="1" algn="ctr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9"/>
          <p:cNvSpPr txBox="1">
            <a:spLocks noGrp="1"/>
          </p:cNvSpPr>
          <p:nvPr>
            <p:ph type="dt" idx="10"/>
          </p:nvPr>
        </p:nvSpPr>
        <p:spPr>
          <a:xfrm>
            <a:off x="4775200" y="6305550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ftr" idx="11"/>
          </p:nvPr>
        </p:nvSpPr>
        <p:spPr>
          <a:xfrm>
            <a:off x="7620000" y="6305550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9"/>
          <p:cNvSpPr txBox="1">
            <a:spLocks noGrp="1"/>
          </p:cNvSpPr>
          <p:nvPr>
            <p:ph type="sldNum" idx="12"/>
          </p:nvPr>
        </p:nvSpPr>
        <p:spPr>
          <a:xfrm>
            <a:off x="11484864" y="6305550"/>
            <a:ext cx="609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19"/>
          <p:cNvSpPr/>
          <p:nvPr/>
        </p:nvSpPr>
        <p:spPr>
          <a:xfrm>
            <a:off x="1228577" y="1413802"/>
            <a:ext cx="280416" cy="210312"/>
          </a:xfrm>
          <a:prstGeom prst="ellipse">
            <a:avLst/>
          </a:prstGeom>
          <a:gradFill>
            <a:gsLst>
              <a:gs pos="0">
                <a:srgbClr val="D7F6FF">
                  <a:alpha val="94510"/>
                </a:srgbClr>
              </a:gs>
              <a:gs pos="50000">
                <a:srgbClr val="C0E3F0">
                  <a:alpha val="89412"/>
                </a:srgbClr>
              </a:gs>
              <a:gs pos="95000">
                <a:srgbClr val="65C6EA">
                  <a:alpha val="87451"/>
                </a:srgbClr>
              </a:gs>
              <a:gs pos="100000">
                <a:srgbClr val="00BBF1">
                  <a:alpha val="84314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9525" cap="rnd" cmpd="sng">
            <a:solidFill>
              <a:srgbClr val="2F8DA4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" name="Google Shape;27;p19"/>
          <p:cNvSpPr/>
          <p:nvPr/>
        </p:nvSpPr>
        <p:spPr>
          <a:xfrm>
            <a:off x="1542901" y="1345016"/>
            <a:ext cx="85344" cy="64008"/>
          </a:xfrm>
          <a:prstGeom prst="ellipse">
            <a:avLst/>
          </a:prstGeom>
          <a:noFill/>
          <a:ln w="12700" cap="rnd" cmpd="sng">
            <a:solidFill>
              <a:srgbClr val="317F92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0"/>
          <p:cNvSpPr txBox="1">
            <a:spLocks noGrp="1"/>
          </p:cNvSpPr>
          <p:nvPr>
            <p:ph type="title"/>
          </p:nvPr>
        </p:nvSpPr>
        <p:spPr>
          <a:xfrm>
            <a:off x="609600" y="216778"/>
            <a:ext cx="5080000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2200"/>
              <a:buFont typeface="Gill Sans"/>
              <a:buNone/>
              <a:defRPr sz="22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body" idx="1"/>
          </p:nvPr>
        </p:nvSpPr>
        <p:spPr>
          <a:xfrm>
            <a:off x="609600" y="1406964"/>
            <a:ext cx="5080000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body" idx="2"/>
          </p:nvPr>
        </p:nvSpPr>
        <p:spPr>
          <a:xfrm>
            <a:off x="609600" y="2133601"/>
            <a:ext cx="10871200" cy="399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116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800"/>
              <a:buChar char="◦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dt" idx="10"/>
          </p:nvPr>
        </p:nvSpPr>
        <p:spPr>
          <a:xfrm>
            <a:off x="4775200" y="6305550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ftr" idx="11"/>
          </p:nvPr>
        </p:nvSpPr>
        <p:spPr>
          <a:xfrm>
            <a:off x="7620000" y="6305550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0"/>
          <p:cNvSpPr txBox="1">
            <a:spLocks noGrp="1"/>
          </p:cNvSpPr>
          <p:nvPr>
            <p:ph type="sldNum" idx="12"/>
          </p:nvPr>
        </p:nvSpPr>
        <p:spPr>
          <a:xfrm>
            <a:off x="11484864" y="6305550"/>
            <a:ext cx="609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" type="obj">
  <p:cSld name="OBJEC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1"/>
          <p:cNvSpPr txBox="1">
            <a:spLocks noGrp="1"/>
          </p:cNvSpPr>
          <p:nvPr>
            <p:ph type="title"/>
          </p:nvPr>
        </p:nvSpPr>
        <p:spPr>
          <a:xfrm>
            <a:off x="1914144" y="274638"/>
            <a:ext cx="999744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1"/>
          <p:cNvSpPr txBox="1">
            <a:spLocks noGrp="1"/>
          </p:cNvSpPr>
          <p:nvPr>
            <p:ph type="body" idx="1"/>
          </p:nvPr>
        </p:nvSpPr>
        <p:spPr>
          <a:xfrm>
            <a:off x="1914144" y="1447800"/>
            <a:ext cx="999744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⚫"/>
              <a:defRPr/>
            </a:lvl1pPr>
            <a:lvl2pPr marL="914400" lvl="1" indent="-3429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dt" idx="10"/>
          </p:nvPr>
        </p:nvSpPr>
        <p:spPr>
          <a:xfrm>
            <a:off x="4775200" y="6305550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ftr" idx="11"/>
          </p:nvPr>
        </p:nvSpPr>
        <p:spPr>
          <a:xfrm>
            <a:off x="7620000" y="6305550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1"/>
          <p:cNvSpPr txBox="1">
            <a:spLocks noGrp="1"/>
          </p:cNvSpPr>
          <p:nvPr>
            <p:ph type="sldNum" idx="12"/>
          </p:nvPr>
        </p:nvSpPr>
        <p:spPr>
          <a:xfrm>
            <a:off x="11484864" y="6305550"/>
            <a:ext cx="609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2"/>
          <p:cNvSpPr/>
          <p:nvPr/>
        </p:nvSpPr>
        <p:spPr>
          <a:xfrm>
            <a:off x="3043853" y="-54"/>
            <a:ext cx="9144000" cy="685805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4" name="Google Shape;44;p22"/>
          <p:cNvSpPr txBox="1">
            <a:spLocks noGrp="1"/>
          </p:cNvSpPr>
          <p:nvPr>
            <p:ph type="title"/>
          </p:nvPr>
        </p:nvSpPr>
        <p:spPr>
          <a:xfrm>
            <a:off x="3437856" y="2600325"/>
            <a:ext cx="8534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000"/>
              <a:buFont typeface="Gill Sans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2"/>
          <p:cNvSpPr txBox="1">
            <a:spLocks noGrp="1"/>
          </p:cNvSpPr>
          <p:nvPr>
            <p:ph type="body" idx="1"/>
          </p:nvPr>
        </p:nvSpPr>
        <p:spPr>
          <a:xfrm>
            <a:off x="3437856" y="1066800"/>
            <a:ext cx="8534400" cy="150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34110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46" name="Google Shape;46;p22"/>
          <p:cNvSpPr txBox="1">
            <a:spLocks noGrp="1"/>
          </p:cNvSpPr>
          <p:nvPr>
            <p:ph type="dt" idx="10"/>
          </p:nvPr>
        </p:nvSpPr>
        <p:spPr>
          <a:xfrm>
            <a:off x="4775200" y="6305550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2"/>
          <p:cNvSpPr txBox="1">
            <a:spLocks noGrp="1"/>
          </p:cNvSpPr>
          <p:nvPr>
            <p:ph type="ftr" idx="11"/>
          </p:nvPr>
        </p:nvSpPr>
        <p:spPr>
          <a:xfrm>
            <a:off x="7620000" y="6305550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sldNum" idx="12"/>
          </p:nvPr>
        </p:nvSpPr>
        <p:spPr>
          <a:xfrm>
            <a:off x="11484864" y="6305550"/>
            <a:ext cx="609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" name="Google Shape;49;p22"/>
          <p:cNvSpPr/>
          <p:nvPr/>
        </p:nvSpPr>
        <p:spPr>
          <a:xfrm>
            <a:off x="3048000" y="0"/>
            <a:ext cx="101600" cy="6858054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dist="38000" dir="10800000" algn="tl" rotWithShape="0">
              <a:srgbClr val="6F6A5F">
                <a:alpha val="24314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0" name="Google Shape;50;p22"/>
          <p:cNvSpPr/>
          <p:nvPr/>
        </p:nvSpPr>
        <p:spPr>
          <a:xfrm>
            <a:off x="2896428" y="2814656"/>
            <a:ext cx="280416" cy="210312"/>
          </a:xfrm>
          <a:prstGeom prst="ellipse">
            <a:avLst/>
          </a:prstGeom>
          <a:gradFill>
            <a:gsLst>
              <a:gs pos="0">
                <a:srgbClr val="D7F6FF">
                  <a:alpha val="94510"/>
                </a:srgbClr>
              </a:gs>
              <a:gs pos="50000">
                <a:srgbClr val="C0E3F0">
                  <a:alpha val="89412"/>
                </a:srgbClr>
              </a:gs>
              <a:gs pos="95000">
                <a:srgbClr val="65C6EA">
                  <a:alpha val="87451"/>
                </a:srgbClr>
              </a:gs>
              <a:gs pos="100000">
                <a:srgbClr val="00BBF1">
                  <a:alpha val="84314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9525" cap="rnd" cmpd="sng">
            <a:solidFill>
              <a:srgbClr val="2F8DA4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1" name="Google Shape;51;p22"/>
          <p:cNvSpPr/>
          <p:nvPr/>
        </p:nvSpPr>
        <p:spPr>
          <a:xfrm>
            <a:off x="3210752" y="2745870"/>
            <a:ext cx="85344" cy="64008"/>
          </a:xfrm>
          <a:prstGeom prst="ellipse">
            <a:avLst/>
          </a:prstGeom>
          <a:noFill/>
          <a:ln w="12700" cap="rnd" cmpd="sng">
            <a:solidFill>
              <a:srgbClr val="317F92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" type="twoObj">
  <p:cSld name="TWO_OBJECTS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3"/>
          <p:cNvSpPr txBox="1">
            <a:spLocks noGrp="1"/>
          </p:cNvSpPr>
          <p:nvPr>
            <p:ph type="title"/>
          </p:nvPr>
        </p:nvSpPr>
        <p:spPr>
          <a:xfrm>
            <a:off x="1914144" y="274320"/>
            <a:ext cx="999744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3"/>
          <p:cNvSpPr txBox="1">
            <a:spLocks noGrp="1"/>
          </p:cNvSpPr>
          <p:nvPr>
            <p:ph type="body" idx="1"/>
          </p:nvPr>
        </p:nvSpPr>
        <p:spPr>
          <a:xfrm>
            <a:off x="1914144" y="1524000"/>
            <a:ext cx="4876800" cy="4663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08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400"/>
              <a:buChar char="◦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55" name="Google Shape;55;p23"/>
          <p:cNvSpPr txBox="1">
            <a:spLocks noGrp="1"/>
          </p:cNvSpPr>
          <p:nvPr>
            <p:ph type="body" idx="2"/>
          </p:nvPr>
        </p:nvSpPr>
        <p:spPr>
          <a:xfrm>
            <a:off x="7034784" y="1524000"/>
            <a:ext cx="4876800" cy="4663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08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400"/>
              <a:buChar char="◦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dt" idx="10"/>
          </p:nvPr>
        </p:nvSpPr>
        <p:spPr>
          <a:xfrm>
            <a:off x="4775200" y="6305550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ftr" idx="11"/>
          </p:nvPr>
        </p:nvSpPr>
        <p:spPr>
          <a:xfrm>
            <a:off x="7620000" y="6305550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sldNum" idx="12"/>
          </p:nvPr>
        </p:nvSpPr>
        <p:spPr>
          <a:xfrm>
            <a:off x="11484864" y="6305550"/>
            <a:ext cx="609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ison" type="twoTxTwoObj">
  <p:cSld name="TWO_OBJECTS_WITH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4"/>
          <p:cNvSpPr txBox="1">
            <a:spLocks noGrp="1"/>
          </p:cNvSpPr>
          <p:nvPr>
            <p:ph type="title"/>
          </p:nvPr>
        </p:nvSpPr>
        <p:spPr>
          <a:xfrm>
            <a:off x="609600" y="5160336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500"/>
              <a:buFont typeface="Gill Sans"/>
              <a:buNone/>
              <a:defRPr sz="45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4"/>
          <p:cNvSpPr txBox="1">
            <a:spLocks noGrp="1"/>
          </p:cNvSpPr>
          <p:nvPr>
            <p:ph type="body" idx="1"/>
          </p:nvPr>
        </p:nvSpPr>
        <p:spPr>
          <a:xfrm>
            <a:off x="609600" y="328278"/>
            <a:ext cx="5364480" cy="640080"/>
          </a:xfrm>
          <a:prstGeom prst="rect">
            <a:avLst/>
          </a:prstGeom>
          <a:solidFill>
            <a:schemeClr val="lt1"/>
          </a:solidFill>
          <a:ln w="10775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520"/>
              <a:buNone/>
              <a:defRPr sz="19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62" name="Google Shape;62;p24"/>
          <p:cNvSpPr txBox="1">
            <a:spLocks noGrp="1"/>
          </p:cNvSpPr>
          <p:nvPr>
            <p:ph type="body" idx="2"/>
          </p:nvPr>
        </p:nvSpPr>
        <p:spPr>
          <a:xfrm>
            <a:off x="6217920" y="328278"/>
            <a:ext cx="5364480" cy="640080"/>
          </a:xfrm>
          <a:prstGeom prst="rect">
            <a:avLst/>
          </a:prstGeom>
          <a:solidFill>
            <a:schemeClr val="lt1"/>
          </a:solidFill>
          <a:ln w="10775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520"/>
              <a:buNone/>
              <a:defRPr sz="19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body" idx="3"/>
          </p:nvPr>
        </p:nvSpPr>
        <p:spPr>
          <a:xfrm>
            <a:off x="609600" y="969336"/>
            <a:ext cx="5364480" cy="4114800"/>
          </a:xfrm>
          <a:prstGeom prst="rect">
            <a:avLst/>
          </a:prstGeom>
          <a:noFill/>
          <a:ln w="10775" cap="flat" cmpd="sng">
            <a:solidFill>
              <a:schemeClr val="lt1"/>
            </a:solidFill>
            <a:prstDash val="dash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052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920"/>
              <a:buChar char="⚫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000"/>
              <a:buChar char="◦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Char char="●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body" idx="4"/>
          </p:nvPr>
        </p:nvSpPr>
        <p:spPr>
          <a:xfrm>
            <a:off x="6217920" y="969336"/>
            <a:ext cx="5364480" cy="4114800"/>
          </a:xfrm>
          <a:prstGeom prst="rect">
            <a:avLst/>
          </a:prstGeom>
          <a:noFill/>
          <a:ln w="10775" cap="flat" cmpd="sng">
            <a:solidFill>
              <a:schemeClr val="lt1"/>
            </a:solidFill>
            <a:prstDash val="dash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052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920"/>
              <a:buChar char="⚫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000"/>
              <a:buChar char="◦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Char char="●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4775200" y="6305550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7620000" y="6305550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11484864" y="6305550"/>
            <a:ext cx="609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type="titleOnly">
  <p:cSld name="TITLE_ONLY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1914144" y="274320"/>
            <a:ext cx="999744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dt" idx="10"/>
          </p:nvPr>
        </p:nvSpPr>
        <p:spPr>
          <a:xfrm>
            <a:off x="4775200" y="6305550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ftr" idx="11"/>
          </p:nvPr>
        </p:nvSpPr>
        <p:spPr>
          <a:xfrm>
            <a:off x="7620000" y="6305550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sldNum" idx="12"/>
          </p:nvPr>
        </p:nvSpPr>
        <p:spPr>
          <a:xfrm>
            <a:off x="11484864" y="6305550"/>
            <a:ext cx="609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6"/>
          <p:cNvSpPr/>
          <p:nvPr/>
        </p:nvSpPr>
        <p:spPr>
          <a:xfrm>
            <a:off x="1353312" y="0"/>
            <a:ext cx="10838688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5" name="Google Shape;75;p26"/>
          <p:cNvSpPr txBox="1">
            <a:spLocks noGrp="1"/>
          </p:cNvSpPr>
          <p:nvPr>
            <p:ph type="dt" idx="10"/>
          </p:nvPr>
        </p:nvSpPr>
        <p:spPr>
          <a:xfrm>
            <a:off x="4775200" y="6305550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ftr" idx="11"/>
          </p:nvPr>
        </p:nvSpPr>
        <p:spPr>
          <a:xfrm>
            <a:off x="7620000" y="6305550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sldNum" idx="12"/>
          </p:nvPr>
        </p:nvSpPr>
        <p:spPr>
          <a:xfrm>
            <a:off x="11484864" y="6305550"/>
            <a:ext cx="609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" name="Google Shape;78;p26"/>
          <p:cNvSpPr/>
          <p:nvPr/>
        </p:nvSpPr>
        <p:spPr>
          <a:xfrm>
            <a:off x="1353312" y="-54"/>
            <a:ext cx="97536" cy="6858054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dist="38000" dir="10800000" algn="tl" rotWithShape="0">
              <a:srgbClr val="6F6A5F">
                <a:alpha val="24314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7"/>
          <p:cNvSpPr txBox="1">
            <a:spLocks noGrp="1"/>
          </p:cNvSpPr>
          <p:nvPr>
            <p:ph type="title"/>
          </p:nvPr>
        </p:nvSpPr>
        <p:spPr>
          <a:xfrm>
            <a:off x="7849195" y="1066800"/>
            <a:ext cx="3657600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2100"/>
              <a:buFont typeface="Gill Sans"/>
              <a:buNone/>
              <a:defRPr sz="21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7"/>
          <p:cNvSpPr txBox="1">
            <a:spLocks noGrp="1"/>
          </p:cNvSpPr>
          <p:nvPr>
            <p:ph type="dt" idx="10"/>
          </p:nvPr>
        </p:nvSpPr>
        <p:spPr>
          <a:xfrm>
            <a:off x="4775200" y="6305550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7"/>
          <p:cNvSpPr txBox="1">
            <a:spLocks noGrp="1"/>
          </p:cNvSpPr>
          <p:nvPr>
            <p:ph type="ftr" idx="11"/>
          </p:nvPr>
        </p:nvSpPr>
        <p:spPr>
          <a:xfrm>
            <a:off x="7620000" y="6305550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sldNum" idx="12"/>
          </p:nvPr>
        </p:nvSpPr>
        <p:spPr>
          <a:xfrm>
            <a:off x="11484864" y="6305550"/>
            <a:ext cx="609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" name="Google Shape;84;p27"/>
          <p:cNvSpPr/>
          <p:nvPr/>
        </p:nvSpPr>
        <p:spPr>
          <a:xfrm>
            <a:off x="1016000" y="1066800"/>
            <a:ext cx="6096000" cy="4572000"/>
          </a:xfrm>
          <a:prstGeom prst="rect">
            <a:avLst/>
          </a:prstGeom>
          <a:solidFill>
            <a:srgbClr val="FFFFFF"/>
          </a:solidFill>
          <a:ln w="88900" cap="sq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55500" dist="18500" dir="5400000" algn="tl" rotWithShape="0">
              <a:srgbClr val="000000">
                <a:alpha val="34510"/>
              </a:srgbClr>
            </a:outerShdw>
          </a:effectLst>
        </p:spPr>
        <p:txBody>
          <a:bodyPr spcFirstLastPara="1" wrap="square" lIns="91425" tIns="274300" rIns="91425" bIns="45700" anchor="t" anchorCtr="0">
            <a:normAutofit/>
          </a:bodyPr>
          <a:lstStyle/>
          <a:p>
            <a:pPr marL="0" marR="0" lvl="0" indent="0" algn="l" rtl="0">
              <a:lnSpc>
                <a:spcPct val="937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endParaRPr sz="32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5" name="Google Shape;85;p27"/>
          <p:cNvSpPr>
            <a:spLocks noGrp="1"/>
          </p:cNvSpPr>
          <p:nvPr>
            <p:ph type="pic" idx="2"/>
          </p:nvPr>
        </p:nvSpPr>
        <p:spPr>
          <a:xfrm>
            <a:off x="1117600" y="1143004"/>
            <a:ext cx="5892800" cy="3514531"/>
          </a:xfrm>
          <a:prstGeom prst="roundRect">
            <a:avLst>
              <a:gd name="adj" fmla="val 783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6" name="Google Shape;86;p27"/>
          <p:cNvSpPr/>
          <p:nvPr/>
        </p:nvSpPr>
        <p:spPr>
          <a:xfrm rot="-2131329">
            <a:off x="528967" y="954341"/>
            <a:ext cx="914400" cy="204310"/>
          </a:xfrm>
          <a:prstGeom prst="flowChartProcess">
            <a:avLst/>
          </a:prstGeom>
          <a:solidFill>
            <a:srgbClr val="FBFBFB">
              <a:alpha val="44314"/>
            </a:srgbClr>
          </a:solidFill>
          <a:ln w="952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25400" dir="3300000" sx="96000" sy="96000" algn="tl" rotWithShape="0">
              <a:srgbClr val="EAD8B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7" name="Google Shape;87;p27"/>
          <p:cNvSpPr/>
          <p:nvPr/>
        </p:nvSpPr>
        <p:spPr>
          <a:xfrm rot="2103354" flipH="1">
            <a:off x="6671556" y="936786"/>
            <a:ext cx="865632" cy="204310"/>
          </a:xfrm>
          <a:prstGeom prst="flowChartProcess">
            <a:avLst/>
          </a:prstGeom>
          <a:solidFill>
            <a:srgbClr val="FBFBFB">
              <a:alpha val="44314"/>
            </a:srgbClr>
          </a:solidFill>
          <a:ln w="952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25400" dir="3300000" sx="96000" sy="96000" algn="tl" rotWithShape="0">
              <a:schemeClr val="lt2">
                <a:alpha val="20000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8" name="Google Shape;88;p27"/>
          <p:cNvSpPr txBox="1">
            <a:spLocks noGrp="1"/>
          </p:cNvSpPr>
          <p:nvPr>
            <p:ph type="body" idx="1"/>
          </p:nvPr>
        </p:nvSpPr>
        <p:spPr>
          <a:xfrm>
            <a:off x="1117600" y="4800600"/>
            <a:ext cx="58928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777777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00"/>
              <a:buChar char="◦"/>
              <a:defRPr sz="1200"/>
            </a:lvl2pPr>
            <a:lvl3pPr marL="1371600" lvl="2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●"/>
              <a:defRPr sz="1000"/>
            </a:lvl3pPr>
            <a:lvl4pPr marL="1828800" lvl="3" indent="-28575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Char char="●"/>
              <a:defRPr sz="900"/>
            </a:lvl4pPr>
            <a:lvl5pPr marL="2286000" lvl="4" indent="-28575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Char char="●"/>
              <a:defRPr sz="9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Vertical Text" type="vertTx">
  <p:cSld name="VERTICAL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8"/>
          <p:cNvSpPr txBox="1">
            <a:spLocks noGrp="1"/>
          </p:cNvSpPr>
          <p:nvPr>
            <p:ph type="title"/>
          </p:nvPr>
        </p:nvSpPr>
        <p:spPr>
          <a:xfrm>
            <a:off x="1914144" y="274638"/>
            <a:ext cx="999744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8"/>
          <p:cNvSpPr txBox="1">
            <a:spLocks noGrp="1"/>
          </p:cNvSpPr>
          <p:nvPr>
            <p:ph type="body" idx="1"/>
          </p:nvPr>
        </p:nvSpPr>
        <p:spPr>
          <a:xfrm rot="5400000">
            <a:off x="4512564" y="-1150620"/>
            <a:ext cx="4800600" cy="999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⚫"/>
              <a:defRPr/>
            </a:lvl1pPr>
            <a:lvl2pPr marL="914400" lvl="1" indent="-3429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92" name="Google Shape;92;p28"/>
          <p:cNvSpPr txBox="1">
            <a:spLocks noGrp="1"/>
          </p:cNvSpPr>
          <p:nvPr>
            <p:ph type="dt" idx="10"/>
          </p:nvPr>
        </p:nvSpPr>
        <p:spPr>
          <a:xfrm>
            <a:off x="4775200" y="6305550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8"/>
          <p:cNvSpPr txBox="1">
            <a:spLocks noGrp="1"/>
          </p:cNvSpPr>
          <p:nvPr>
            <p:ph type="ftr" idx="11"/>
          </p:nvPr>
        </p:nvSpPr>
        <p:spPr>
          <a:xfrm>
            <a:off x="7620000" y="6305550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8"/>
          <p:cNvSpPr txBox="1">
            <a:spLocks noGrp="1"/>
          </p:cNvSpPr>
          <p:nvPr>
            <p:ph type="sldNum" idx="12"/>
          </p:nvPr>
        </p:nvSpPr>
        <p:spPr>
          <a:xfrm>
            <a:off x="11484864" y="6305550"/>
            <a:ext cx="609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9"/>
          <p:cNvSpPr txBox="1">
            <a:spLocks noGrp="1"/>
          </p:cNvSpPr>
          <p:nvPr>
            <p:ph type="title"/>
          </p:nvPr>
        </p:nvSpPr>
        <p:spPr>
          <a:xfrm rot="5400000">
            <a:off x="7437439" y="1981202"/>
            <a:ext cx="5851525" cy="24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9"/>
          <p:cNvSpPr txBox="1">
            <a:spLocks noGrp="1"/>
          </p:cNvSpPr>
          <p:nvPr>
            <p:ph type="body" idx="1"/>
          </p:nvPr>
        </p:nvSpPr>
        <p:spPr>
          <a:xfrm rot="5400000">
            <a:off x="2306639" y="-507997"/>
            <a:ext cx="5851525" cy="74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⚫"/>
              <a:defRPr/>
            </a:lvl1pPr>
            <a:lvl2pPr marL="914400" lvl="1" indent="-3429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98" name="Google Shape;98;p29"/>
          <p:cNvSpPr txBox="1">
            <a:spLocks noGrp="1"/>
          </p:cNvSpPr>
          <p:nvPr>
            <p:ph type="dt" idx="10"/>
          </p:nvPr>
        </p:nvSpPr>
        <p:spPr>
          <a:xfrm>
            <a:off x="4775200" y="6305550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9"/>
          <p:cNvSpPr txBox="1">
            <a:spLocks noGrp="1"/>
          </p:cNvSpPr>
          <p:nvPr>
            <p:ph type="ftr" idx="11"/>
          </p:nvPr>
        </p:nvSpPr>
        <p:spPr>
          <a:xfrm>
            <a:off x="7620000" y="6305550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9"/>
          <p:cNvSpPr txBox="1">
            <a:spLocks noGrp="1"/>
          </p:cNvSpPr>
          <p:nvPr>
            <p:ph type="sldNum" idx="12"/>
          </p:nvPr>
        </p:nvSpPr>
        <p:spPr>
          <a:xfrm>
            <a:off x="11484864" y="6305550"/>
            <a:ext cx="609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>
            <a:alphaModFix amt="8000"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/>
          <p:nvPr/>
        </p:nvSpPr>
        <p:spPr>
          <a:xfrm>
            <a:off x="-1087902" y="-815922"/>
            <a:ext cx="2185183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rgbClr val="FEF9F3">
              <a:alpha val="32549"/>
            </a:srgbClr>
          </a:solidFill>
          <a:ln w="9525" cap="rnd" cmpd="sng">
            <a:solidFill>
              <a:srgbClr val="D1C19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" name="Google Shape;11;p18"/>
          <p:cNvSpPr/>
          <p:nvPr/>
        </p:nvSpPr>
        <p:spPr>
          <a:xfrm>
            <a:off x="225089" y="21103"/>
            <a:ext cx="2269588" cy="1702191"/>
          </a:xfrm>
          <a:prstGeom prst="ellipse">
            <a:avLst/>
          </a:prstGeom>
          <a:noFill/>
          <a:ln w="27300" cap="rnd" cmpd="sng">
            <a:solidFill>
              <a:srgbClr val="FFF5DB"/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25400" dir="5400000" algn="tl" rotWithShape="0">
              <a:srgbClr val="ADA48C">
                <a:alpha val="84314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" name="Google Shape;12;p18"/>
          <p:cNvSpPr/>
          <p:nvPr/>
        </p:nvSpPr>
        <p:spPr>
          <a:xfrm rot="2315675">
            <a:off x="243842" y="1055077"/>
            <a:ext cx="1500956" cy="1102624"/>
          </a:xfrm>
          <a:prstGeom prst="donut">
            <a:avLst>
              <a:gd name="adj" fmla="val 11833"/>
            </a:avLst>
          </a:prstGeom>
          <a:gradFill>
            <a:gsLst>
              <a:gs pos="0">
                <a:srgbClr val="FEFBF4">
                  <a:alpha val="69412"/>
                </a:srgbClr>
              </a:gs>
              <a:gs pos="70000">
                <a:srgbClr val="FFFDF8">
                  <a:alpha val="54510"/>
                </a:srgbClr>
              </a:gs>
              <a:gs pos="100000">
                <a:srgbClr val="EDCF8C">
                  <a:alpha val="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9525" cap="rnd" cmpd="sng">
            <a:solidFill>
              <a:srgbClr val="C5B39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15000" dir="4500000" algn="tl" rotWithShape="0">
              <a:srgbClr val="564E40">
                <a:alpha val="3451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" name="Google Shape;13;p18"/>
          <p:cNvSpPr/>
          <p:nvPr/>
        </p:nvSpPr>
        <p:spPr>
          <a:xfrm>
            <a:off x="1350498" y="-54"/>
            <a:ext cx="10841503" cy="685805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" name="Google Shape;14;p18"/>
          <p:cNvSpPr txBox="1">
            <a:spLocks noGrp="1"/>
          </p:cNvSpPr>
          <p:nvPr>
            <p:ph type="title"/>
          </p:nvPr>
        </p:nvSpPr>
        <p:spPr>
          <a:xfrm>
            <a:off x="1914144" y="274638"/>
            <a:ext cx="999744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  <a:defRPr sz="4300" b="0" i="0" u="none" strike="noStrike" cap="none">
                <a:solidFill>
                  <a:srgbClr val="56221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18"/>
          <p:cNvSpPr txBox="1">
            <a:spLocks noGrp="1"/>
          </p:cNvSpPr>
          <p:nvPr>
            <p:ph type="body" idx="1"/>
          </p:nvPr>
        </p:nvSpPr>
        <p:spPr>
          <a:xfrm>
            <a:off x="1914144" y="1447800"/>
            <a:ext cx="999744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9116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  <a:defRPr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  <a:defRPr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6" name="Google Shape;16;p18"/>
          <p:cNvSpPr txBox="1">
            <a:spLocks noGrp="1"/>
          </p:cNvSpPr>
          <p:nvPr>
            <p:ph type="dt" idx="10"/>
          </p:nvPr>
        </p:nvSpPr>
        <p:spPr>
          <a:xfrm>
            <a:off x="4775200" y="6305550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7" name="Google Shape;17;p18"/>
          <p:cNvSpPr txBox="1">
            <a:spLocks noGrp="1"/>
          </p:cNvSpPr>
          <p:nvPr>
            <p:ph type="ftr" idx="11"/>
          </p:nvPr>
        </p:nvSpPr>
        <p:spPr>
          <a:xfrm>
            <a:off x="7620000" y="6305550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8" name="Google Shape;18;p18"/>
          <p:cNvSpPr txBox="1">
            <a:spLocks noGrp="1"/>
          </p:cNvSpPr>
          <p:nvPr>
            <p:ph type="sldNum" idx="12"/>
          </p:nvPr>
        </p:nvSpPr>
        <p:spPr>
          <a:xfrm>
            <a:off x="11484864" y="6305550"/>
            <a:ext cx="609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" name="Google Shape;19;p18"/>
          <p:cNvSpPr/>
          <p:nvPr/>
        </p:nvSpPr>
        <p:spPr>
          <a:xfrm>
            <a:off x="1353312" y="-54"/>
            <a:ext cx="97536" cy="6858054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dist="38000" dir="10800000" algn="tl" rotWithShape="0">
              <a:srgbClr val="6F6A5F">
                <a:alpha val="24314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"/>
          <p:cNvSpPr txBox="1">
            <a:spLocks noGrp="1"/>
          </p:cNvSpPr>
          <p:nvPr>
            <p:ph type="ctrTitle"/>
          </p:nvPr>
        </p:nvSpPr>
        <p:spPr>
          <a:xfrm>
            <a:off x="878240" y="530684"/>
            <a:ext cx="10125040" cy="14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18288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Risk-Aware Privacy Budget Allocation for GAN-Based Synthetic Data Generation</a:t>
            </a:r>
            <a:endParaRPr sz="36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1"/>
          <p:cNvSpPr txBox="1">
            <a:spLocks noGrp="1"/>
          </p:cNvSpPr>
          <p:nvPr>
            <p:ph type="subTitle" idx="1"/>
          </p:nvPr>
        </p:nvSpPr>
        <p:spPr>
          <a:xfrm>
            <a:off x="1685128" y="4896017"/>
            <a:ext cx="12437272" cy="27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rmAutofit/>
          </a:bodyPr>
          <a:lstStyle/>
          <a:p>
            <a:pPr marL="26988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80"/>
              <a:buNone/>
            </a:pPr>
            <a:r>
              <a:rPr lang="en-US" sz="2400" b="1">
                <a:latin typeface="Arial Narrow"/>
                <a:ea typeface="Arial Narrow"/>
                <a:cs typeface="Arial Narrow"/>
                <a:sym typeface="Arial Narrow"/>
              </a:rPr>
              <a:t>Guided By</a:t>
            </a:r>
            <a:endParaRPr sz="2400"/>
          </a:p>
          <a:p>
            <a:pPr marL="26987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80"/>
              <a:buNone/>
            </a:pPr>
            <a:r>
              <a:rPr lang="en-US" sz="2400" b="1">
                <a:latin typeface="Arial Narrow"/>
                <a:ea typeface="Arial Narrow"/>
                <a:cs typeface="Arial Narrow"/>
                <a:sym typeface="Arial Narrow"/>
              </a:rPr>
              <a:t>            Dr .R.HARINE RAJASHREE</a:t>
            </a:r>
            <a:endParaRPr sz="2400"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1685128" y="2818894"/>
            <a:ext cx="4890300" cy="1723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6987" marR="0" lvl="2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341108"/>
                </a:solidFill>
                <a:latin typeface="Arial Narrow"/>
                <a:ea typeface="Arial Narrow"/>
                <a:cs typeface="Arial Narrow"/>
                <a:sym typeface="Arial Narrow"/>
              </a:rPr>
              <a:t>Presented by</a:t>
            </a:r>
            <a:endParaRPr sz="2000" b="1" i="0" u="none" strike="noStrike" cap="none">
              <a:solidFill>
                <a:srgbClr val="341108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369887" marR="0" lvl="2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Char char="•"/>
            </a:pPr>
            <a:r>
              <a:rPr lang="en-US" sz="2000" b="1" i="0" u="none" strike="noStrike" cap="none">
                <a:solidFill>
                  <a:srgbClr val="341108"/>
                </a:solidFill>
                <a:latin typeface="Arial Narrow"/>
                <a:ea typeface="Arial Narrow"/>
                <a:cs typeface="Arial Narrow"/>
                <a:sym typeface="Arial Narrow"/>
              </a:rPr>
              <a:t>PAVITHA P</a:t>
            </a:r>
            <a:endParaRPr/>
          </a:p>
          <a:p>
            <a:pPr marL="369887" marR="0" lvl="2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Char char="•"/>
            </a:pPr>
            <a:r>
              <a:rPr lang="en-US" sz="2000" b="1" i="0" u="none" strike="noStrike" cap="none">
                <a:solidFill>
                  <a:srgbClr val="341108"/>
                </a:solidFill>
                <a:latin typeface="Arial Narrow"/>
                <a:ea typeface="Arial Narrow"/>
                <a:cs typeface="Arial Narrow"/>
                <a:sym typeface="Arial Narrow"/>
              </a:rPr>
              <a:t>PRABAVATHI S</a:t>
            </a:r>
            <a:endParaRPr/>
          </a:p>
          <a:p>
            <a:pPr marL="484187" marR="0" lvl="2" indent="-457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Char char="•"/>
            </a:pPr>
            <a:r>
              <a:rPr lang="en-US" sz="2000" b="1" i="0" u="none" strike="noStrike" cap="none">
                <a:solidFill>
                  <a:srgbClr val="341108"/>
                </a:solidFill>
                <a:latin typeface="Arial Narrow"/>
                <a:ea typeface="Arial Narrow"/>
                <a:cs typeface="Arial Narrow"/>
                <a:sym typeface="Arial Narrow"/>
              </a:rPr>
              <a:t>RAGASUDHA B</a:t>
            </a:r>
            <a:endParaRPr sz="2000" b="1" i="0" u="none" strike="noStrike" cap="none">
              <a:solidFill>
                <a:srgbClr val="341108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"/>
          <p:cNvSpPr txBox="1">
            <a:spLocks noGrp="1"/>
          </p:cNvSpPr>
          <p:nvPr>
            <p:ph type="title"/>
          </p:nvPr>
        </p:nvSpPr>
        <p:spPr>
          <a:xfrm>
            <a:off x="1869440" y="-290114"/>
            <a:ext cx="5616222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55555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3600"/>
              <a:t>Presentation Overview</a:t>
            </a:r>
            <a:endParaRPr/>
          </a:p>
        </p:txBody>
      </p:sp>
      <p:sp>
        <p:nvSpPr>
          <p:cNvPr id="114" name="Google Shape;114;p2"/>
          <p:cNvSpPr txBox="1">
            <a:spLocks noGrp="1"/>
          </p:cNvSpPr>
          <p:nvPr>
            <p:ph type="body" idx="1"/>
          </p:nvPr>
        </p:nvSpPr>
        <p:spPr>
          <a:xfrm>
            <a:off x="977750" y="1212600"/>
            <a:ext cx="9045000" cy="50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37160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romanU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Title, Domain, Subdomain</a:t>
            </a:r>
            <a:endParaRPr/>
          </a:p>
          <a:p>
            <a:pPr marL="137160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romanU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3900"/>
          </a:p>
          <a:p>
            <a:pPr marL="137160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romanU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Literature Survey Progress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romanU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System Analysis Progress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lvl="0" indent="-381000" algn="just" rtl="0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romanU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romanU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Stakeholder Analysis Insights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romanU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romanU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Existing System Implementation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romanU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Communication &amp; Visuals (Gantt Chart)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romanU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SDG Relevance</a:t>
            </a:r>
            <a:endParaRPr/>
          </a:p>
          <a:p>
            <a:pPr marL="1371600" lvl="0" indent="-38227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20"/>
              <a:buAutoNum type="romanUcPeriod"/>
            </a:pPr>
            <a:r>
              <a:rPr lang="en-US"/>
              <a:t>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/>
          </a:p>
          <a:p>
            <a:pPr marL="365760" lvl="0" indent="-2834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"/>
              <a:buNone/>
            </a:pPr>
            <a:endParaRPr sz="39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"/>
          <p:cNvSpPr txBox="1">
            <a:spLocks noGrp="1"/>
          </p:cNvSpPr>
          <p:nvPr>
            <p:ph type="body" idx="1"/>
          </p:nvPr>
        </p:nvSpPr>
        <p:spPr>
          <a:xfrm>
            <a:off x="2056436" y="462988"/>
            <a:ext cx="8401253" cy="5785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3716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</a:pPr>
            <a:r>
              <a:rPr lang="en-US"/>
              <a:t>Domain:</a:t>
            </a:r>
            <a:endParaRPr/>
          </a:p>
          <a:p>
            <a:pPr marL="13716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</a:pPr>
            <a:r>
              <a:rPr lang="en-US" sz="2600"/>
              <a:t>Primary Domain: </a:t>
            </a:r>
            <a:r>
              <a:rPr lang="en-US" sz="2600" b="1"/>
              <a:t>Data Privacy / Data Security</a:t>
            </a:r>
            <a:r>
              <a:rPr lang="en-US" sz="2600"/>
              <a:t> Interdisciplinary Domain: </a:t>
            </a:r>
            <a:r>
              <a:rPr lang="en-US" sz="2600" b="1"/>
              <a:t>Artificial Intelligence (Machine Learning)</a:t>
            </a:r>
            <a:endParaRPr/>
          </a:p>
          <a:p>
            <a:pPr marL="13716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</a:pPr>
            <a:endParaRPr sz="2600" b="1"/>
          </a:p>
          <a:p>
            <a:pPr marL="13716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</a:pPr>
            <a:r>
              <a:rPr lang="en-US" sz="2800" b="1"/>
              <a:t>Sub-Domain:</a:t>
            </a:r>
            <a:endParaRPr sz="2800"/>
          </a:p>
          <a:p>
            <a:pPr marL="457200" lvl="0" indent="-32004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⚫"/>
            </a:pPr>
            <a:r>
              <a:rPr lang="en-US" sz="2800"/>
              <a:t>Differential Privacy (DP)</a:t>
            </a:r>
            <a:endParaRPr/>
          </a:p>
          <a:p>
            <a:pPr marL="457200" lvl="0" indent="-32004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⚫"/>
            </a:pPr>
            <a:r>
              <a:rPr lang="en-US" sz="2800"/>
              <a:t>Generative Adversarial Networks (GANs)</a:t>
            </a:r>
            <a:endParaRPr/>
          </a:p>
          <a:p>
            <a:pPr marL="457200" lvl="0" indent="-32004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⚫"/>
            </a:pPr>
            <a:r>
              <a:rPr lang="en-US" sz="2800"/>
              <a:t>Synthetic Data Generation</a:t>
            </a:r>
            <a:endParaRPr/>
          </a:p>
          <a:p>
            <a:pPr marL="457200" lvl="0" indent="-32004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⚫"/>
            </a:pPr>
            <a:r>
              <a:rPr lang="en-US" sz="2800"/>
              <a:t>Privacy-Preserving Machine Learning (PPML)</a:t>
            </a:r>
            <a:endParaRPr/>
          </a:p>
          <a:p>
            <a:pPr marL="13716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</a:pPr>
            <a:endParaRPr sz="26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"/>
          <p:cNvSpPr txBox="1">
            <a:spLocks noGrp="1"/>
          </p:cNvSpPr>
          <p:nvPr>
            <p:ph type="title"/>
          </p:nvPr>
        </p:nvSpPr>
        <p:spPr>
          <a:xfrm>
            <a:off x="1869440" y="-35950"/>
            <a:ext cx="63273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55555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</a:pPr>
            <a:r>
              <a:rPr lang="en-US" sz="36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3600">
              <a:solidFill>
                <a:schemeClr val="accent5"/>
              </a:solidFill>
            </a:endParaRPr>
          </a:p>
        </p:txBody>
      </p:sp>
      <p:sp>
        <p:nvSpPr>
          <p:cNvPr id="125" name="Google Shape;125;p3"/>
          <p:cNvSpPr txBox="1">
            <a:spLocks noGrp="1"/>
          </p:cNvSpPr>
          <p:nvPr>
            <p:ph type="body" idx="1"/>
          </p:nvPr>
        </p:nvSpPr>
        <p:spPr>
          <a:xfrm>
            <a:off x="897950" y="746750"/>
            <a:ext cx="10056900" cy="53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4902"/>
              <a:buFont typeface="Noto Sans Symbols"/>
              <a:buChar char="⮚"/>
            </a:pPr>
            <a:r>
              <a:rPr lang="en-US" sz="2400"/>
              <a:t>Organizations increasingly need to </a:t>
            </a:r>
            <a:r>
              <a:rPr lang="en-US" sz="2400" b="1"/>
              <a:t>share sensitive tabular data</a:t>
            </a:r>
            <a:r>
              <a:rPr lang="en-US" sz="2400"/>
              <a:t> (financial, medical, behavioral) for research, testing, and AI model training but sharing raw data risks exposing real individuals.</a:t>
            </a:r>
            <a:endParaRPr/>
          </a:p>
          <a:p>
            <a:pPr marL="457200" lvl="0" indent="-1574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4902"/>
              <a:buFont typeface="Noto Sans Symbols"/>
              <a:buNone/>
            </a:pPr>
            <a:endParaRPr sz="2400" b="1"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4902"/>
              <a:buFont typeface="Noto Sans Symbols"/>
              <a:buChar char="⮚"/>
            </a:pPr>
            <a:r>
              <a:rPr lang="en-US" sz="2400" b="1"/>
              <a:t>Synthetic data generation</a:t>
            </a:r>
            <a:r>
              <a:rPr lang="en-US" sz="2400"/>
              <a:t> solves this by learning patterns from real data and generating artificial records that behave statistically the same, without containing any real person's actual information.</a:t>
            </a:r>
            <a:endParaRPr/>
          </a:p>
          <a:p>
            <a:pPr marL="457200" lvl="0" indent="-1574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4902"/>
              <a:buFont typeface="Noto Sans Symbols"/>
              <a:buNone/>
            </a:pPr>
            <a:endParaRPr sz="2400" b="1"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4902"/>
              <a:buFont typeface="Noto Sans Symbols"/>
              <a:buChar char="⮚"/>
            </a:pPr>
            <a:r>
              <a:rPr lang="en-US" sz="2400" b="1"/>
              <a:t>Generative Adversarial Networks (GANs)</a:t>
            </a:r>
            <a:r>
              <a:rPr lang="en-US" sz="2400"/>
              <a:t>  e.g., CTGAN, DP-CTGAN  are among the most widely used methods for generating realistic synthetic tabular data. </a:t>
            </a:r>
            <a:endParaRPr/>
          </a:p>
          <a:p>
            <a:pPr marL="457200" lvl="0" indent="-1574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4902"/>
              <a:buFont typeface="Noto Sans Symbols"/>
              <a:buNone/>
            </a:pPr>
            <a:endParaRPr sz="2400"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4902"/>
              <a:buFont typeface="Noto Sans Symbols"/>
              <a:buChar char="⮚"/>
            </a:pPr>
            <a:r>
              <a:rPr lang="en-US" sz="2400"/>
              <a:t>To formally guarantee privacy, these methods apply </a:t>
            </a:r>
            <a:r>
              <a:rPr lang="en-US" sz="2400" b="1"/>
              <a:t>Differential Privacy (DP)</a:t>
            </a:r>
            <a:r>
              <a:rPr lang="en-US" sz="2400"/>
              <a:t>: deliberately adding calibrated noise during training so no single record can be reliably identified in the output. </a:t>
            </a:r>
            <a:endParaRPr/>
          </a:p>
          <a:p>
            <a:pPr marL="457200" lvl="0" indent="-1574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4902"/>
              <a:buFont typeface="Noto Sans Symbols"/>
              <a:buNone/>
            </a:pPr>
            <a:endParaRPr sz="2400" b="1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/>
              <a:t>The problem:</a:t>
            </a:r>
            <a:r>
              <a:rPr lang="en-US" sz="2400"/>
              <a:t> current DP-GAN methods add the </a:t>
            </a:r>
            <a:r>
              <a:rPr lang="en-US" sz="2400" b="1"/>
              <a:t>same amount of noise to every column</a:t>
            </a:r>
            <a:r>
              <a:rPr lang="en-US" sz="2400"/>
              <a:t>, regardless of whether that column is actually risky (e.g., a unique ID-like field) or safe (e.g., a yes/no flag) wasting privacy budget and unnecessarily hurting data quality.</a:t>
            </a:r>
            <a:endParaRPr sz="2400"/>
          </a:p>
        </p:txBody>
      </p:sp>
      <p:sp>
        <p:nvSpPr>
          <p:cNvPr id="126" name="Google Shape;126;p3"/>
          <p:cNvSpPr/>
          <p:nvPr/>
        </p:nvSpPr>
        <p:spPr>
          <a:xfrm>
            <a:off x="1129700" y="4611875"/>
            <a:ext cx="9875100" cy="2153100"/>
          </a:xfrm>
          <a:prstGeom prst="horizontalScroll">
            <a:avLst>
              <a:gd name="adj" fmla="val 12500"/>
            </a:avLst>
          </a:prstGeom>
          <a:solidFill>
            <a:srgbClr val="EA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b="1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 problem:</a:t>
            </a:r>
            <a:r>
              <a:rPr lang="en-US" sz="2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Current DP-GAN methods add the </a:t>
            </a:r>
            <a:r>
              <a:rPr lang="en-US" sz="2200" b="1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same amount of noise to every column</a:t>
            </a:r>
            <a:r>
              <a:rPr lang="en-US" sz="2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, regardless of whether that column is actually risky (e.g., a unique ID-like field) or safe (e.g., a yes/no flag) wasting privacy budget and unnecessarily hurting data quality.</a:t>
            </a:r>
            <a:endParaRPr sz="2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87d7ab33d_0_514"/>
          <p:cNvSpPr txBox="1">
            <a:spLocks noGrp="1"/>
          </p:cNvSpPr>
          <p:nvPr>
            <p:ph type="title"/>
          </p:nvPr>
        </p:nvSpPr>
        <p:spPr>
          <a:xfrm>
            <a:off x="412300" y="114846"/>
            <a:ext cx="9997500" cy="257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Literature Survey </a:t>
            </a:r>
            <a:r>
              <a:rPr lang="en-US" dirty="0" smtClean="0"/>
              <a:t>Progress</a:t>
            </a:r>
            <a:endParaRPr dirty="0"/>
          </a:p>
        </p:txBody>
      </p:sp>
      <p:sp>
        <p:nvSpPr>
          <p:cNvPr id="133" name="Google Shape;133;g3f87d7ab33d_0_514"/>
          <p:cNvSpPr/>
          <p:nvPr/>
        </p:nvSpPr>
        <p:spPr>
          <a:xfrm>
            <a:off x="1262625" y="763800"/>
            <a:ext cx="2511900" cy="3207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Gill Sans"/>
                <a:ea typeface="Gill Sans"/>
                <a:cs typeface="Gill Sans"/>
                <a:sym typeface="Gill Sans"/>
              </a:rPr>
              <a:t>    GAN MODELS</a:t>
            </a:r>
            <a:endParaRPr sz="1800"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Gill Sans"/>
              <a:buAutoNum type="arabicPeriod"/>
            </a:pPr>
            <a:r>
              <a:rPr lang="en-US" sz="1800">
                <a:latin typeface="Gill Sans"/>
                <a:ea typeface="Gill Sans"/>
                <a:cs typeface="Gill Sans"/>
                <a:sym typeface="Gill Sans"/>
              </a:rPr>
              <a:t>TABLE GAN</a:t>
            </a:r>
            <a:endParaRPr sz="1800"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Gill Sans"/>
              <a:buAutoNum type="arabicPeriod"/>
            </a:pPr>
            <a:r>
              <a:rPr lang="en-US" sz="1800">
                <a:latin typeface="Gill Sans"/>
                <a:ea typeface="Gill Sans"/>
                <a:cs typeface="Gill Sans"/>
                <a:sym typeface="Gill Sans"/>
              </a:rPr>
              <a:t>CTGAN</a:t>
            </a:r>
            <a:endParaRPr sz="1800"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Gill Sans"/>
              <a:buAutoNum type="arabicPeriod"/>
            </a:pPr>
            <a:r>
              <a:rPr lang="en-US" sz="1800">
                <a:latin typeface="Gill Sans"/>
                <a:ea typeface="Gill Sans"/>
                <a:cs typeface="Gill Sans"/>
                <a:sym typeface="Gill Sans"/>
              </a:rPr>
              <a:t>CTBGAN</a:t>
            </a:r>
            <a:endParaRPr sz="1800"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Gill Sans"/>
              <a:buAutoNum type="arabicPeriod"/>
            </a:pPr>
            <a:r>
              <a:rPr lang="en-US" sz="1800">
                <a:latin typeface="Gill Sans"/>
                <a:ea typeface="Gill Sans"/>
                <a:cs typeface="Gill Sans"/>
                <a:sym typeface="Gill Sans"/>
              </a:rPr>
              <a:t>Coupla GAN</a:t>
            </a:r>
            <a:endParaRPr sz="1800"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4" name="Google Shape;134;g3f87d7ab33d_0_514"/>
          <p:cNvSpPr/>
          <p:nvPr/>
        </p:nvSpPr>
        <p:spPr>
          <a:xfrm>
            <a:off x="4697825" y="763800"/>
            <a:ext cx="2511900" cy="3207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Gill Sans"/>
                <a:ea typeface="Gill Sans"/>
                <a:cs typeface="Gill Sans"/>
                <a:sym typeface="Gill Sans"/>
              </a:rPr>
              <a:t>VAE Models</a:t>
            </a:r>
            <a:endParaRPr sz="1800"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5" name="Google Shape;135;g3f87d7ab33d_0_514"/>
          <p:cNvSpPr/>
          <p:nvPr/>
        </p:nvSpPr>
        <p:spPr>
          <a:xfrm>
            <a:off x="8336500" y="692727"/>
            <a:ext cx="2450677" cy="3278073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 smtClean="0"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 smtClean="0"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 smtClean="0"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 smtClean="0"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smtClean="0">
                <a:latin typeface="Gill Sans"/>
                <a:ea typeface="Gill Sans"/>
                <a:cs typeface="Gill Sans"/>
                <a:sym typeface="Gill Sans"/>
              </a:rPr>
              <a:t>Transformer </a:t>
            </a:r>
            <a:r>
              <a:rPr lang="en-US" sz="1800" dirty="0">
                <a:latin typeface="Gill Sans"/>
                <a:ea typeface="Gill Sans"/>
                <a:cs typeface="Gill Sans"/>
                <a:sym typeface="Gill Sans"/>
              </a:rPr>
              <a:t>Based Models</a:t>
            </a:r>
            <a:endParaRPr sz="1800" dirty="0">
              <a:latin typeface="Gill Sans"/>
              <a:ea typeface="Gill Sans"/>
              <a:cs typeface="Gill Sans"/>
              <a:sym typeface="Gill Sans"/>
            </a:endParaRPr>
          </a:p>
          <a:p>
            <a:pPr marL="342900" lvl="0" indent="-342900" algn="ctr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n-US" sz="1800" dirty="0">
              <a:latin typeface="Gill Sans"/>
              <a:ea typeface="Gill Sans"/>
              <a:cs typeface="Gill Sans"/>
              <a:sym typeface="Gill Sans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dirty="0" smtClean="0">
                <a:latin typeface="Gill Sans"/>
                <a:ea typeface="Gill Sans"/>
                <a:cs typeface="Gill Sans"/>
                <a:sym typeface="Gill Sans"/>
              </a:rPr>
              <a:t>GPT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800" dirty="0" smtClean="0"/>
              <a:t> BERT </a:t>
            </a:r>
            <a:endParaRPr lang="en-IN" sz="1800" dirty="0"/>
          </a:p>
          <a:p>
            <a:pPr marL="342900" lvl="0" indent="-342900">
              <a:buFont typeface="+mj-lt"/>
              <a:buAutoNum type="arabicPeriod"/>
            </a:pPr>
            <a:r>
              <a:rPr lang="en-IN" sz="1800" dirty="0"/>
              <a:t> </a:t>
            </a:r>
            <a:r>
              <a:rPr lang="en-IN" sz="1800" dirty="0" smtClean="0"/>
              <a:t> T5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800" dirty="0" err="1"/>
              <a:t>TabTransformer</a:t>
            </a:r>
            <a:r>
              <a:rPr lang="en-IN" sz="1800" dirty="0"/>
              <a:t> </a:t>
            </a:r>
            <a:r>
              <a:rPr lang="en-IN" sz="1800" dirty="0" smtClean="0"/>
              <a:t>FT-Transformer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800" dirty="0" err="1" smtClean="0"/>
              <a:t>GReaT</a:t>
            </a:r>
            <a:endParaRPr lang="en-IN" sz="1800" dirty="0" smtClean="0"/>
          </a:p>
          <a:p>
            <a:pPr marL="342900" lvl="0" indent="-342900">
              <a:buFont typeface="+mj-lt"/>
              <a:buAutoNum type="arabicPeriod"/>
            </a:pPr>
            <a:r>
              <a:rPr lang="en-IN" sz="1800" dirty="0" err="1" smtClean="0"/>
              <a:t>REaLTab</a:t>
            </a:r>
            <a:endParaRPr lang="en-IN" sz="1800" dirty="0" smtClean="0"/>
          </a:p>
          <a:p>
            <a:pPr marL="342900" lvl="0" indent="-342900">
              <a:buFont typeface="+mj-lt"/>
              <a:buAutoNum type="arabicPeriod"/>
            </a:pPr>
            <a:r>
              <a:rPr lang="en-IN" sz="1800" dirty="0" err="1" smtClean="0"/>
              <a:t>TabMT</a:t>
            </a:r>
            <a:endParaRPr lang="en-IN" sz="1800" dirty="0" smtClean="0"/>
          </a:p>
          <a:p>
            <a:pPr marL="342900" indent="-342900">
              <a:buFont typeface="+mj-lt"/>
              <a:buAutoNum type="arabicPeriod"/>
            </a:pPr>
            <a:endParaRPr lang="en-IN" sz="1800" dirty="0" smtClean="0"/>
          </a:p>
          <a:p>
            <a:endParaRPr sz="1800" dirty="0"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6" name="Google Shape;136;g3f87d7ab33d_0_514"/>
          <p:cNvSpPr/>
          <p:nvPr/>
        </p:nvSpPr>
        <p:spPr>
          <a:xfrm>
            <a:off x="1178438" y="4399225"/>
            <a:ext cx="9835128" cy="1980288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Survey Paper: comparative synthesis </a:t>
            </a:r>
            <a:endParaRPr sz="2400"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137" name="Google Shape;137;g3f87d7ab33d_0_514"/>
          <p:cNvCxnSpPr>
            <a:stCxn id="133" idx="2"/>
            <a:endCxn id="136" idx="1"/>
          </p:cNvCxnSpPr>
          <p:nvPr/>
        </p:nvCxnSpPr>
        <p:spPr>
          <a:xfrm rot="5400000">
            <a:off x="1139175" y="4010100"/>
            <a:ext cx="1418700" cy="1340100"/>
          </a:xfrm>
          <a:prstGeom prst="bentConnector4">
            <a:avLst>
              <a:gd name="adj1" fmla="val 15099"/>
              <a:gd name="adj2" fmla="val 117772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8" name="Google Shape;138;g3f87d7ab33d_0_514"/>
          <p:cNvCxnSpPr/>
          <p:nvPr/>
        </p:nvCxnSpPr>
        <p:spPr>
          <a:xfrm rot="-5400000" flipH="1">
            <a:off x="5952927" y="4113925"/>
            <a:ext cx="428400" cy="1422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9" name="Google Shape;139;g3f87d7ab33d_0_514"/>
          <p:cNvCxnSpPr>
            <a:stCxn id="135" idx="2"/>
            <a:endCxn id="136" idx="3"/>
          </p:cNvCxnSpPr>
          <p:nvPr/>
        </p:nvCxnSpPr>
        <p:spPr>
          <a:xfrm rot="16200000" flipH="1">
            <a:off x="9578418" y="3954220"/>
            <a:ext cx="1418569" cy="1451727"/>
          </a:xfrm>
          <a:prstGeom prst="bentConnector4">
            <a:avLst>
              <a:gd name="adj1" fmla="val 15101"/>
              <a:gd name="adj2" fmla="val 11574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ae8eda3f0_0_15"/>
          <p:cNvSpPr txBox="1">
            <a:spLocks noGrp="1"/>
          </p:cNvSpPr>
          <p:nvPr>
            <p:ph type="title"/>
          </p:nvPr>
        </p:nvSpPr>
        <p:spPr>
          <a:xfrm>
            <a:off x="1097250" y="214723"/>
            <a:ext cx="9997500" cy="572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System Analysis Progress</a:t>
            </a:r>
            <a:endParaRPr/>
          </a:p>
        </p:txBody>
      </p:sp>
      <p:sp>
        <p:nvSpPr>
          <p:cNvPr id="146" name="Google Shape;146;g3fae8eda3f0_0_15"/>
          <p:cNvSpPr/>
          <p:nvPr/>
        </p:nvSpPr>
        <p:spPr>
          <a:xfrm rot="985170" flipH="1">
            <a:off x="8773588" y="3408640"/>
            <a:ext cx="1489026" cy="77268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g3fae8eda3f0_0_15"/>
          <p:cNvSpPr/>
          <p:nvPr/>
        </p:nvSpPr>
        <p:spPr>
          <a:xfrm rot="-985170">
            <a:off x="7410026" y="3408640"/>
            <a:ext cx="1489026" cy="77268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g3fae8eda3f0_0_15"/>
          <p:cNvSpPr/>
          <p:nvPr/>
        </p:nvSpPr>
        <p:spPr>
          <a:xfrm rot="985170" flipH="1">
            <a:off x="6030530" y="3408640"/>
            <a:ext cx="1489026" cy="77268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g3fae8eda3f0_0_15"/>
          <p:cNvSpPr/>
          <p:nvPr/>
        </p:nvSpPr>
        <p:spPr>
          <a:xfrm rot="-985170">
            <a:off x="4666968" y="3408640"/>
            <a:ext cx="1489026" cy="77268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g3fae8eda3f0_0_15"/>
          <p:cNvSpPr/>
          <p:nvPr/>
        </p:nvSpPr>
        <p:spPr>
          <a:xfrm rot="985170" flipH="1">
            <a:off x="3292960" y="3408640"/>
            <a:ext cx="1489026" cy="77268"/>
          </a:xfrm>
          <a:prstGeom prst="roundRect">
            <a:avLst>
              <a:gd name="adj" fmla="val 50000"/>
            </a:avLst>
          </a:prstGeom>
          <a:solidFill>
            <a:srgbClr val="701C7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1" name="Google Shape;151;g3fae8eda3f0_0_15"/>
          <p:cNvGrpSpPr/>
          <p:nvPr/>
        </p:nvGrpSpPr>
        <p:grpSpPr>
          <a:xfrm>
            <a:off x="3592381" y="3489665"/>
            <a:ext cx="2283543" cy="1640912"/>
            <a:chOff x="2683803" y="2543425"/>
            <a:chExt cx="1712700" cy="1230715"/>
          </a:xfrm>
        </p:grpSpPr>
        <p:sp>
          <p:nvSpPr>
            <p:cNvPr id="152" name="Google Shape;152;g3fae8eda3f0_0_15"/>
            <p:cNvSpPr txBox="1"/>
            <p:nvPr/>
          </p:nvSpPr>
          <p:spPr>
            <a:xfrm>
              <a:off x="3191705" y="2737212"/>
              <a:ext cx="696900" cy="27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2100"/>
                </a:spcAft>
                <a:buNone/>
              </a:pPr>
              <a:r>
                <a:rPr lang="en-US" sz="1100" b="1">
                  <a:solidFill>
                    <a:srgbClr val="701C7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100" b="1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3" name="Google Shape;153;g3fae8eda3f0_0_15"/>
            <p:cNvSpPr/>
            <p:nvPr/>
          </p:nvSpPr>
          <p:spPr>
            <a:xfrm rot="-1789476">
              <a:off x="3457142" y="2572699"/>
              <a:ext cx="160451" cy="160451"/>
            </a:xfrm>
            <a:prstGeom prst="ellipse">
              <a:avLst/>
            </a:prstGeom>
            <a:solidFill>
              <a:srgbClr val="FFFFFF"/>
            </a:solidFill>
            <a:ln w="50800" cap="flat" cmpd="sng">
              <a:solidFill>
                <a:srgbClr val="701C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g3fae8eda3f0_0_15"/>
            <p:cNvSpPr/>
            <p:nvPr/>
          </p:nvSpPr>
          <p:spPr>
            <a:xfrm>
              <a:off x="2683803" y="3070640"/>
              <a:ext cx="1712700" cy="703500"/>
            </a:xfrm>
            <a:prstGeom prst="roundRect">
              <a:avLst>
                <a:gd name="adj" fmla="val 4485"/>
              </a:avLst>
            </a:prstGeom>
            <a:solidFill>
              <a:srgbClr val="701C7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0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0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0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0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0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0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00"/>
            </a:p>
          </p:txBody>
        </p:sp>
        <p:sp>
          <p:nvSpPr>
            <p:cNvPr id="155" name="Google Shape;155;g3fae8eda3f0_0_15"/>
            <p:cNvSpPr txBox="1"/>
            <p:nvPr/>
          </p:nvSpPr>
          <p:spPr>
            <a:xfrm>
              <a:off x="2728053" y="3107840"/>
              <a:ext cx="16242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2100"/>
                </a:spcAft>
                <a:buNone/>
              </a:pPr>
              <a:r>
                <a:rPr lang="en-US" sz="110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Analyzed GAN-based models: CTGAN, CTAB-GAN, CTAB-GAN+, GANBLR and MEG. </a:t>
              </a:r>
              <a:endParaRPr sz="1100" b="1">
                <a:solidFill>
                  <a:srgbClr val="FFFFFF"/>
                </a:solidFill>
              </a:endParaRPr>
            </a:p>
          </p:txBody>
        </p:sp>
        <p:sp>
          <p:nvSpPr>
            <p:cNvPr id="156" name="Google Shape;156;g3fae8eda3f0_0_15"/>
            <p:cNvSpPr/>
            <p:nvPr/>
          </p:nvSpPr>
          <p:spPr>
            <a:xfrm>
              <a:off x="3495153" y="3005991"/>
              <a:ext cx="90000" cy="67500"/>
            </a:xfrm>
            <a:prstGeom prst="triangle">
              <a:avLst>
                <a:gd name="adj" fmla="val 50000"/>
              </a:avLst>
            </a:prstGeom>
            <a:solidFill>
              <a:srgbClr val="701C7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7" name="Google Shape;157;g3fae8eda3f0_0_15"/>
          <p:cNvGrpSpPr/>
          <p:nvPr/>
        </p:nvGrpSpPr>
        <p:grpSpPr>
          <a:xfrm>
            <a:off x="6326179" y="3489665"/>
            <a:ext cx="2283543" cy="1640912"/>
            <a:chOff x="4734203" y="2543425"/>
            <a:chExt cx="1712700" cy="1230715"/>
          </a:xfrm>
        </p:grpSpPr>
        <p:sp>
          <p:nvSpPr>
            <p:cNvPr id="158" name="Google Shape;158;g3fae8eda3f0_0_15"/>
            <p:cNvSpPr/>
            <p:nvPr/>
          </p:nvSpPr>
          <p:spPr>
            <a:xfrm rot="-1789476">
              <a:off x="5510320" y="2572699"/>
              <a:ext cx="160451" cy="160451"/>
            </a:xfrm>
            <a:prstGeom prst="ellipse">
              <a:avLst/>
            </a:prstGeom>
            <a:solidFill>
              <a:srgbClr val="FFFFFF"/>
            </a:solidFill>
            <a:ln w="50800" cap="flat" cmpd="sng">
              <a:solidFill>
                <a:srgbClr val="85858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g3fae8eda3f0_0_15"/>
            <p:cNvSpPr txBox="1"/>
            <p:nvPr/>
          </p:nvSpPr>
          <p:spPr>
            <a:xfrm>
              <a:off x="5234191" y="2737212"/>
              <a:ext cx="696900" cy="27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2100"/>
                </a:spcAft>
                <a:buNone/>
              </a:pPr>
              <a:r>
                <a:rPr lang="en-US" sz="1100" b="1">
                  <a:solidFill>
                    <a:srgbClr val="5E5E5E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sz="1100" b="1">
                <a:solidFill>
                  <a:srgbClr val="5E5E5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0" name="Google Shape;160;g3fae8eda3f0_0_15"/>
            <p:cNvSpPr/>
            <p:nvPr/>
          </p:nvSpPr>
          <p:spPr>
            <a:xfrm>
              <a:off x="4734203" y="3070640"/>
              <a:ext cx="1712700" cy="703500"/>
            </a:xfrm>
            <a:prstGeom prst="roundRect">
              <a:avLst>
                <a:gd name="adj" fmla="val 4485"/>
              </a:avLst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0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0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0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0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0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0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00"/>
            </a:p>
          </p:txBody>
        </p:sp>
        <p:sp>
          <p:nvSpPr>
            <p:cNvPr id="161" name="Google Shape;161;g3fae8eda3f0_0_15"/>
            <p:cNvSpPr txBox="1"/>
            <p:nvPr/>
          </p:nvSpPr>
          <p:spPr>
            <a:xfrm>
              <a:off x="4778453" y="3107840"/>
              <a:ext cx="1624200" cy="624600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2100"/>
                </a:spcAft>
                <a:buNone/>
              </a:pPr>
              <a:r>
                <a:rPr lang="en-US" sz="1100" b="1">
                  <a:solidFill>
                    <a:srgbClr val="5E5E5E"/>
                  </a:solidFill>
                  <a:latin typeface="Roboto"/>
                  <a:ea typeface="Roboto"/>
                  <a:cs typeface="Roboto"/>
                  <a:sym typeface="Roboto"/>
                </a:rPr>
                <a:t>Reviewed recent healthcare applications of GAN-based synthetic data generation. </a:t>
              </a:r>
              <a:endParaRPr sz="1100" b="1">
                <a:solidFill>
                  <a:srgbClr val="5E5E5E"/>
                </a:solidFill>
              </a:endParaRPr>
            </a:p>
          </p:txBody>
        </p:sp>
        <p:sp>
          <p:nvSpPr>
            <p:cNvPr id="162" name="Google Shape;162;g3fae8eda3f0_0_15"/>
            <p:cNvSpPr/>
            <p:nvPr/>
          </p:nvSpPr>
          <p:spPr>
            <a:xfrm>
              <a:off x="5545553" y="3005991"/>
              <a:ext cx="90000" cy="67500"/>
            </a:xfrm>
            <a:prstGeom prst="triangle">
              <a:avLst>
                <a:gd name="adj" fmla="val 50000"/>
              </a:avLst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" name="Google Shape;163;g3fae8eda3f0_0_15"/>
          <p:cNvSpPr/>
          <p:nvPr/>
        </p:nvSpPr>
        <p:spPr>
          <a:xfrm rot="-985170">
            <a:off x="1929398" y="3408640"/>
            <a:ext cx="1489026" cy="77268"/>
          </a:xfrm>
          <a:prstGeom prst="roundRect">
            <a:avLst>
              <a:gd name="adj" fmla="val 50000"/>
            </a:avLst>
          </a:prstGeom>
          <a:solidFill>
            <a:srgbClr val="701C7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4" name="Google Shape;164;g3fae8eda3f0_0_15"/>
          <p:cNvGrpSpPr/>
          <p:nvPr/>
        </p:nvGrpSpPr>
        <p:grpSpPr>
          <a:xfrm>
            <a:off x="2203149" y="1727235"/>
            <a:ext cx="2283543" cy="1662296"/>
            <a:chOff x="1641853" y="1221570"/>
            <a:chExt cx="1712700" cy="1246754"/>
          </a:xfrm>
        </p:grpSpPr>
        <p:sp>
          <p:nvSpPr>
            <p:cNvPr id="165" name="Google Shape;165;g3fae8eda3f0_0_15"/>
            <p:cNvSpPr/>
            <p:nvPr/>
          </p:nvSpPr>
          <p:spPr>
            <a:xfrm>
              <a:off x="1641853" y="1221570"/>
              <a:ext cx="1712700" cy="703500"/>
            </a:xfrm>
            <a:prstGeom prst="roundRect">
              <a:avLst>
                <a:gd name="adj" fmla="val 4485"/>
              </a:avLst>
            </a:prstGeom>
            <a:solidFill>
              <a:srgbClr val="701C7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0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0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0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0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0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0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00"/>
            </a:p>
          </p:txBody>
        </p:sp>
        <p:sp>
          <p:nvSpPr>
            <p:cNvPr id="166" name="Google Shape;166;g3fae8eda3f0_0_15"/>
            <p:cNvSpPr txBox="1"/>
            <p:nvPr/>
          </p:nvSpPr>
          <p:spPr>
            <a:xfrm>
              <a:off x="2148922" y="1986924"/>
              <a:ext cx="696900" cy="27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2100"/>
                </a:spcAft>
                <a:buNone/>
              </a:pPr>
              <a:r>
                <a:rPr lang="en-US" sz="1100" b="1">
                  <a:solidFill>
                    <a:srgbClr val="701C7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100" b="1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7" name="Google Shape;167;g3fae8eda3f0_0_15"/>
            <p:cNvSpPr/>
            <p:nvPr/>
          </p:nvSpPr>
          <p:spPr>
            <a:xfrm rot="10800000">
              <a:off x="2453178" y="1920663"/>
              <a:ext cx="90000" cy="67500"/>
            </a:xfrm>
            <a:prstGeom prst="triangle">
              <a:avLst>
                <a:gd name="adj" fmla="val 50000"/>
              </a:avLst>
            </a:prstGeom>
            <a:solidFill>
              <a:srgbClr val="701C7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g3fae8eda3f0_0_15"/>
            <p:cNvSpPr txBox="1"/>
            <p:nvPr/>
          </p:nvSpPr>
          <p:spPr>
            <a:xfrm>
              <a:off x="1686103" y="1258770"/>
              <a:ext cx="16242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2100"/>
                </a:spcAft>
                <a:buNone/>
              </a:pPr>
              <a:r>
                <a:rPr lang="en-US" sz="110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Studied existing synthetic data generation techniques. </a:t>
              </a:r>
              <a:endParaRPr sz="1100" b="1">
                <a:solidFill>
                  <a:srgbClr val="FFFFFF"/>
                </a:solidFill>
              </a:endParaRPr>
            </a:p>
          </p:txBody>
        </p:sp>
        <p:sp>
          <p:nvSpPr>
            <p:cNvPr id="169" name="Google Shape;169;g3fae8eda3f0_0_15"/>
            <p:cNvSpPr/>
            <p:nvPr/>
          </p:nvSpPr>
          <p:spPr>
            <a:xfrm rot="-1789476">
              <a:off x="2415143" y="2278597"/>
              <a:ext cx="160451" cy="160451"/>
            </a:xfrm>
            <a:prstGeom prst="ellipse">
              <a:avLst/>
            </a:prstGeom>
            <a:solidFill>
              <a:srgbClr val="FFFFFF"/>
            </a:solidFill>
            <a:ln w="50800" cap="flat" cmpd="sng">
              <a:solidFill>
                <a:srgbClr val="701C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0" name="Google Shape;170;g3fae8eda3f0_0_15"/>
          <p:cNvGrpSpPr/>
          <p:nvPr/>
        </p:nvGrpSpPr>
        <p:grpSpPr>
          <a:xfrm>
            <a:off x="7670600" y="1088484"/>
            <a:ext cx="2283543" cy="2099536"/>
            <a:chOff x="5770298" y="893632"/>
            <a:chExt cx="1712700" cy="1574691"/>
          </a:xfrm>
        </p:grpSpPr>
        <p:sp>
          <p:nvSpPr>
            <p:cNvPr id="171" name="Google Shape;171;g3fae8eda3f0_0_15"/>
            <p:cNvSpPr/>
            <p:nvPr/>
          </p:nvSpPr>
          <p:spPr>
            <a:xfrm rot="-1789476">
              <a:off x="6546711" y="2278597"/>
              <a:ext cx="160451" cy="160451"/>
            </a:xfrm>
            <a:prstGeom prst="ellipse">
              <a:avLst/>
            </a:prstGeom>
            <a:solidFill>
              <a:srgbClr val="FFFFFF"/>
            </a:solidFill>
            <a:ln w="50800" cap="flat" cmpd="sng">
              <a:solidFill>
                <a:srgbClr val="85858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g3fae8eda3f0_0_15"/>
            <p:cNvSpPr txBox="1"/>
            <p:nvPr/>
          </p:nvSpPr>
          <p:spPr>
            <a:xfrm>
              <a:off x="6290844" y="1986924"/>
              <a:ext cx="696900" cy="27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2100"/>
                </a:spcAft>
                <a:buNone/>
              </a:pPr>
              <a:r>
                <a:rPr lang="en-US" sz="1100" b="1">
                  <a:solidFill>
                    <a:srgbClr val="5E5E5E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100" b="1">
                <a:solidFill>
                  <a:srgbClr val="5E5E5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3" name="Google Shape;173;g3fae8eda3f0_0_15"/>
            <p:cNvSpPr/>
            <p:nvPr/>
          </p:nvSpPr>
          <p:spPr>
            <a:xfrm>
              <a:off x="5770298" y="948808"/>
              <a:ext cx="1712700" cy="944700"/>
            </a:xfrm>
            <a:prstGeom prst="roundRect">
              <a:avLst>
                <a:gd name="adj" fmla="val 4485"/>
              </a:avLst>
            </a:prstGeom>
            <a:solidFill>
              <a:srgbClr val="E0666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0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0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0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0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0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0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00"/>
            </a:p>
          </p:txBody>
        </p:sp>
        <p:sp>
          <p:nvSpPr>
            <p:cNvPr id="174" name="Google Shape;174;g3fae8eda3f0_0_15"/>
            <p:cNvSpPr/>
            <p:nvPr/>
          </p:nvSpPr>
          <p:spPr>
            <a:xfrm rot="10800000">
              <a:off x="6581632" y="1920663"/>
              <a:ext cx="90000" cy="67500"/>
            </a:xfrm>
            <a:prstGeom prst="triangle">
              <a:avLst>
                <a:gd name="adj" fmla="val 50000"/>
              </a:avLst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g3fae8eda3f0_0_15"/>
            <p:cNvSpPr txBox="1"/>
            <p:nvPr/>
          </p:nvSpPr>
          <p:spPr>
            <a:xfrm>
              <a:off x="5792630" y="893632"/>
              <a:ext cx="1668600" cy="57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2100"/>
                </a:spcAft>
                <a:buNone/>
              </a:pPr>
              <a:r>
                <a:rPr lang="en-US" sz="1100" b="1">
                  <a:solidFill>
                    <a:schemeClr val="dk1"/>
                  </a:solidFill>
                </a:rPr>
                <a:t>Surveying various synthetic data generation methods, including GANs, VAEs, Transformers, Bayesian Networks, and statistical methods. </a:t>
              </a:r>
              <a:endParaRPr sz="1100" b="1">
                <a:solidFill>
                  <a:srgbClr val="5E5E5E"/>
                </a:solidFill>
              </a:endParaRPr>
            </a:p>
          </p:txBody>
        </p:sp>
      </p:grpSp>
      <p:grpSp>
        <p:nvGrpSpPr>
          <p:cNvPr id="176" name="Google Shape;176;g3fae8eda3f0_0_15"/>
          <p:cNvGrpSpPr/>
          <p:nvPr/>
        </p:nvGrpSpPr>
        <p:grpSpPr>
          <a:xfrm>
            <a:off x="4936881" y="1727235"/>
            <a:ext cx="2283543" cy="1662296"/>
            <a:chOff x="3692203" y="1221570"/>
            <a:chExt cx="1712700" cy="1246754"/>
          </a:xfrm>
        </p:grpSpPr>
        <p:sp>
          <p:nvSpPr>
            <p:cNvPr id="177" name="Google Shape;177;g3fae8eda3f0_0_15"/>
            <p:cNvSpPr/>
            <p:nvPr/>
          </p:nvSpPr>
          <p:spPr>
            <a:xfrm rot="-1789476">
              <a:off x="4468320" y="2278597"/>
              <a:ext cx="160451" cy="160451"/>
            </a:xfrm>
            <a:prstGeom prst="ellipse">
              <a:avLst/>
            </a:prstGeom>
            <a:solidFill>
              <a:srgbClr val="FFFFFF"/>
            </a:solidFill>
            <a:ln w="50800" cap="flat" cmpd="sng">
              <a:solidFill>
                <a:srgbClr val="85858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g3fae8eda3f0_0_15"/>
            <p:cNvSpPr txBox="1"/>
            <p:nvPr/>
          </p:nvSpPr>
          <p:spPr>
            <a:xfrm>
              <a:off x="4204633" y="1986924"/>
              <a:ext cx="696900" cy="27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2100"/>
                </a:spcAft>
                <a:buNone/>
              </a:pPr>
              <a:r>
                <a:rPr lang="en-US" sz="1100" b="1">
                  <a:solidFill>
                    <a:srgbClr val="5E5E5E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sz="1100" b="1">
                <a:solidFill>
                  <a:srgbClr val="5E5E5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9" name="Google Shape;179;g3fae8eda3f0_0_15"/>
            <p:cNvSpPr/>
            <p:nvPr/>
          </p:nvSpPr>
          <p:spPr>
            <a:xfrm>
              <a:off x="3692203" y="1221570"/>
              <a:ext cx="1712700" cy="703500"/>
            </a:xfrm>
            <a:prstGeom prst="roundRect">
              <a:avLst>
                <a:gd name="adj" fmla="val 4485"/>
              </a:avLst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0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0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0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0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0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0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00"/>
            </a:p>
          </p:txBody>
        </p:sp>
        <p:sp>
          <p:nvSpPr>
            <p:cNvPr id="180" name="Google Shape;180;g3fae8eda3f0_0_15"/>
            <p:cNvSpPr/>
            <p:nvPr/>
          </p:nvSpPr>
          <p:spPr>
            <a:xfrm rot="10800000">
              <a:off x="4503528" y="1920663"/>
              <a:ext cx="90000" cy="67500"/>
            </a:xfrm>
            <a:prstGeom prst="triangle">
              <a:avLst>
                <a:gd name="adj" fmla="val 50000"/>
              </a:avLst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g3fae8eda3f0_0_15"/>
            <p:cNvSpPr txBox="1"/>
            <p:nvPr/>
          </p:nvSpPr>
          <p:spPr>
            <a:xfrm>
              <a:off x="3736453" y="1258770"/>
              <a:ext cx="1624200" cy="624600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100" b="1">
                  <a:solidFill>
                    <a:srgbClr val="5E5E5E"/>
                  </a:solidFill>
                </a:rPr>
                <a:t>Compared their contributions, limitations and evaluation methods.</a:t>
              </a:r>
              <a:endParaRPr sz="1100" b="1">
                <a:solidFill>
                  <a:srgbClr val="5E5E5E"/>
                </a:solidFill>
              </a:endParaRPr>
            </a:p>
            <a:p>
              <a:pPr marL="0" lvl="0" indent="0" algn="ctr" rtl="0">
                <a:lnSpc>
                  <a:spcPct val="115000"/>
                </a:lnSpc>
                <a:spcBef>
                  <a:spcPts val="2100"/>
                </a:spcBef>
                <a:spcAft>
                  <a:spcPts val="2100"/>
                </a:spcAft>
                <a:buNone/>
              </a:pPr>
              <a:endParaRPr sz="1100">
                <a:solidFill>
                  <a:srgbClr val="5E5E5E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5"/>
          <p:cNvSpPr txBox="1">
            <a:spLocks noGrp="1"/>
          </p:cNvSpPr>
          <p:nvPr>
            <p:ph type="title"/>
          </p:nvPr>
        </p:nvSpPr>
        <p:spPr>
          <a:xfrm>
            <a:off x="1785366" y="186077"/>
            <a:ext cx="7955100" cy="6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55555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</a:pPr>
            <a:r>
              <a:rPr lang="en-US" sz="36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sz="3600">
              <a:solidFill>
                <a:schemeClr val="accent5"/>
              </a:solidFill>
            </a:endParaRPr>
          </a:p>
        </p:txBody>
      </p:sp>
      <p:sp>
        <p:nvSpPr>
          <p:cNvPr id="187" name="Google Shape;187;p5"/>
          <p:cNvSpPr txBox="1">
            <a:spLocks noGrp="1"/>
          </p:cNvSpPr>
          <p:nvPr>
            <p:ph type="body" idx="1"/>
          </p:nvPr>
        </p:nvSpPr>
        <p:spPr>
          <a:xfrm>
            <a:off x="1662250" y="1147950"/>
            <a:ext cx="10299300" cy="54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6604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4444"/>
              <a:buNone/>
            </a:pPr>
            <a:r>
              <a:rPr lang="en-US" sz="3600" b="1"/>
              <a:t>Primary Objective</a:t>
            </a:r>
            <a:endParaRPr/>
          </a:p>
          <a:p>
            <a:pPr marL="6604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7143"/>
              <a:buNone/>
            </a:pPr>
            <a:r>
              <a:rPr lang="en-US" sz="2800"/>
              <a:t/>
            </a:r>
            <a:br>
              <a:rPr lang="en-US" sz="2800"/>
            </a:br>
            <a:r>
              <a:rPr lang="en-US" sz="2850">
                <a:latin typeface="Arial"/>
                <a:ea typeface="Arial"/>
                <a:cs typeface="Arial"/>
                <a:sym typeface="Arial"/>
              </a:rPr>
              <a:t>Design a GAN-based synthetic data generator that allocates differential privacy budget </a:t>
            </a:r>
            <a:r>
              <a:rPr lang="en-US" sz="2850" b="1">
                <a:latin typeface="Arial"/>
                <a:ea typeface="Arial"/>
                <a:cs typeface="Arial"/>
                <a:sym typeface="Arial"/>
              </a:rPr>
              <a:t>per-column</a:t>
            </a:r>
            <a:r>
              <a:rPr lang="en-US" sz="2850">
                <a:latin typeface="Arial"/>
                <a:ea typeface="Arial"/>
                <a:cs typeface="Arial"/>
                <a:sym typeface="Arial"/>
              </a:rPr>
              <a:t>, based on each column's real re-identification risk  not uniformly. </a:t>
            </a:r>
            <a:endParaRPr sz="2850"/>
          </a:p>
          <a:p>
            <a:pPr marL="6604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1538"/>
              <a:buNone/>
            </a:pPr>
            <a:endParaRPr sz="2600"/>
          </a:p>
          <a:p>
            <a:pPr marL="6604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4444"/>
              <a:buNone/>
            </a:pPr>
            <a:r>
              <a:rPr lang="en-US" sz="3600" b="1"/>
              <a:t>Specific Objectives</a:t>
            </a:r>
            <a:endParaRPr/>
          </a:p>
          <a:p>
            <a:pPr marL="808990" lvl="0" indent="-67183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4444"/>
              <a:buFont typeface="Arial"/>
              <a:buNone/>
            </a:pPr>
            <a:endParaRPr sz="3600"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Compute a per-column </a:t>
            </a:r>
            <a:r>
              <a:rPr lang="en-US" sz="2800" b="1">
                <a:latin typeface="Arial"/>
                <a:ea typeface="Arial"/>
                <a:cs typeface="Arial"/>
                <a:sym typeface="Arial"/>
              </a:rPr>
              <a:t>attack-risk score</a:t>
            </a:r>
            <a:r>
              <a:rPr lang="en-US" sz="2800">
                <a:latin typeface="Arial"/>
                <a:ea typeface="Arial"/>
                <a:cs typeface="Arial"/>
                <a:sym typeface="Arial"/>
              </a:rPr>
              <a:t> (uniqueness, sensitivity, known attack susceptibility)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Modify DP-CTGAN so </a:t>
            </a:r>
            <a:r>
              <a:rPr lang="en-US" sz="2800" b="1">
                <a:latin typeface="Arial"/>
                <a:ea typeface="Arial"/>
                <a:cs typeface="Arial"/>
                <a:sym typeface="Arial"/>
              </a:rPr>
              <a:t>noise is weighted by that risk score</a:t>
            </a:r>
            <a:endParaRPr sz="2800" b="1">
              <a:latin typeface="Arial"/>
              <a:ea typeface="Arial"/>
              <a:cs typeface="Arial"/>
              <a:sym typeface="Arial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latin typeface="Arial"/>
              <a:ea typeface="Arial"/>
              <a:cs typeface="Arial"/>
              <a:sym typeface="Arial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Benchmark against uniform-noise baselines — fidelity, privacy leakage, utility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Test whether risk-aware allocation beats uniform noise </a:t>
            </a:r>
            <a:r>
              <a:rPr lang="en-US" sz="2800" b="1">
                <a:latin typeface="Arial"/>
                <a:ea typeface="Arial"/>
                <a:cs typeface="Arial"/>
                <a:sym typeface="Arial"/>
              </a:rPr>
              <a:t>at equal privacy</a:t>
            </a:r>
            <a:endParaRPr sz="28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/>
          </a:p>
          <a:p>
            <a:pPr marL="6604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1538"/>
              <a:buNone/>
            </a:pPr>
            <a:endParaRPr sz="2600"/>
          </a:p>
        </p:txBody>
      </p:sp>
      <p:sp>
        <p:nvSpPr>
          <p:cNvPr id="188" name="Google Shape;188;p5"/>
          <p:cNvSpPr txBox="1"/>
          <p:nvPr/>
        </p:nvSpPr>
        <p:spPr>
          <a:xfrm>
            <a:off x="2418900" y="2857500"/>
            <a:ext cx="7655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89" name="Google Shape;189;p5" descr="target target arrow color icon vector illustration (Provided by Getty Images)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25" y="186075"/>
            <a:ext cx="1599324" cy="1475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5" descr="target (Provided by Getty Images)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54650" y="3440000"/>
            <a:ext cx="512123" cy="512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5" descr="target (Provided by Getty Images)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54650" y="4105887"/>
            <a:ext cx="512123" cy="512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5" descr="target (Provided by Getty Images)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54649" y="4845913"/>
            <a:ext cx="512123" cy="512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5" descr="target (Provided by Getty Images)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54650" y="5585962"/>
            <a:ext cx="512123" cy="5121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87d7ab33d_1_475"/>
          <p:cNvSpPr txBox="1"/>
          <p:nvPr/>
        </p:nvSpPr>
        <p:spPr>
          <a:xfrm>
            <a:off x="385425" y="624675"/>
            <a:ext cx="11111100" cy="55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300" b="1" dirty="0">
                <a:solidFill>
                  <a:schemeClr val="dk1"/>
                </a:solidFill>
              </a:rPr>
              <a:t>Stakeholder Analysis</a:t>
            </a:r>
            <a:endParaRPr sz="33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 b="1" dirty="0">
                <a:solidFill>
                  <a:schemeClr val="dk1"/>
                </a:solidFill>
              </a:rPr>
              <a:t>Patients</a:t>
            </a:r>
            <a:endParaRPr sz="21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 b="1" dirty="0">
                <a:solidFill>
                  <a:schemeClr val="dk1"/>
                </a:solidFill>
              </a:rPr>
              <a:t>                 Primary Stakeholders</a:t>
            </a:r>
            <a:r>
              <a:rPr lang="en-US" sz="2100" dirty="0">
                <a:solidFill>
                  <a:schemeClr val="dk1"/>
                </a:solidFill>
              </a:rPr>
              <a:t> — Demand absolute privacy and ethical data use.</a:t>
            </a:r>
            <a:endParaRPr sz="21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 b="1" dirty="0">
                <a:solidFill>
                  <a:schemeClr val="dk1"/>
                </a:solidFill>
              </a:rPr>
              <a:t>Researchers</a:t>
            </a:r>
            <a:endParaRPr sz="21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 b="1" dirty="0">
                <a:solidFill>
                  <a:schemeClr val="dk1"/>
                </a:solidFill>
              </a:rPr>
              <a:t>                  Secondary Stakeholders</a:t>
            </a:r>
            <a:r>
              <a:rPr lang="en-US" sz="2100" dirty="0">
                <a:solidFill>
                  <a:schemeClr val="dk1"/>
                </a:solidFill>
              </a:rPr>
              <a:t> — Require high-fidelity data for accurate medical    discoveries.</a:t>
            </a:r>
            <a:endParaRPr sz="21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 b="1" dirty="0">
                <a:solidFill>
                  <a:schemeClr val="dk1"/>
                </a:solidFill>
              </a:rPr>
              <a:t>Regulatory Bodies</a:t>
            </a:r>
            <a:endParaRPr sz="21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 b="1" dirty="0">
                <a:solidFill>
                  <a:schemeClr val="dk1"/>
                </a:solidFill>
              </a:rPr>
              <a:t>                   Tertiary Stakeholders</a:t>
            </a:r>
            <a:r>
              <a:rPr lang="en-US" sz="2100" dirty="0">
                <a:solidFill>
                  <a:schemeClr val="dk1"/>
                </a:solidFill>
              </a:rPr>
              <a:t> — Ensure compliance with HIPAA and the AI Act.</a:t>
            </a:r>
            <a:endParaRPr sz="21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 b="1" dirty="0">
                <a:solidFill>
                  <a:schemeClr val="dk1"/>
                </a:solidFill>
              </a:rPr>
              <a:t>Hospital IT</a:t>
            </a:r>
            <a:endParaRPr sz="21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 b="1" dirty="0">
                <a:solidFill>
                  <a:schemeClr val="dk1"/>
                </a:solidFill>
              </a:rPr>
              <a:t>                   Operational Stakeholders</a:t>
            </a:r>
            <a:r>
              <a:rPr lang="en-US" sz="2100" dirty="0">
                <a:solidFill>
                  <a:schemeClr val="dk1"/>
                </a:solidFill>
              </a:rPr>
              <a:t> — Need seamless, scalable data-sharing pipelines.</a:t>
            </a:r>
            <a:endParaRPr sz="2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3200"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87d7ab33d_1_475"/>
          <p:cNvSpPr txBox="1"/>
          <p:nvPr/>
        </p:nvSpPr>
        <p:spPr>
          <a:xfrm>
            <a:off x="155575" y="-132707"/>
            <a:ext cx="11879407" cy="6653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300" b="1" dirty="0">
                <a:solidFill>
                  <a:schemeClr val="dk1"/>
                </a:solidFill>
              </a:rPr>
              <a:t>Stakeholder Analysis</a:t>
            </a:r>
            <a:endParaRPr sz="3300" b="1" dirty="0">
              <a:solidFill>
                <a:schemeClr val="dk1"/>
              </a:solidFill>
            </a:endParaRPr>
          </a:p>
          <a:p>
            <a:pPr lvl="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</a:pPr>
            <a:r>
              <a:rPr lang="en-GB" sz="1600" dirty="0" smtClean="0"/>
              <a:t>1.Have </a:t>
            </a:r>
            <a:r>
              <a:rPr lang="en-GB" sz="1600" dirty="0"/>
              <a:t>you heard about healthcare data privacy before</a:t>
            </a:r>
            <a:r>
              <a:rPr lang="en-GB" sz="1600" dirty="0" smtClean="0"/>
              <a:t>?      </a:t>
            </a:r>
            <a:r>
              <a:rPr lang="en-GB" sz="1500" dirty="0" smtClean="0"/>
              <a:t>2.</a:t>
            </a:r>
            <a:r>
              <a:rPr lang="en-GB" sz="1500" dirty="0"/>
              <a:t> How important do you think protecting patient medical </a:t>
            </a:r>
            <a:r>
              <a:rPr lang="en-GB" sz="1500" dirty="0" smtClean="0"/>
              <a:t>data is?</a:t>
            </a:r>
          </a:p>
          <a:p>
            <a:pPr lvl="0" algn="r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</a:pPr>
            <a:endParaRPr lang="en-GB" sz="1600" dirty="0" smtClean="0"/>
          </a:p>
          <a:p>
            <a:pPr lvl="0" algn="r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</a:pPr>
            <a:endParaRPr lang="en-GB" sz="1600" dirty="0"/>
          </a:p>
          <a:p>
            <a:pPr lvl="0" algn="r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</a:pPr>
            <a:endParaRPr lang="en-GB" sz="1600" dirty="0" smtClean="0"/>
          </a:p>
          <a:p>
            <a:pPr lvl="0" algn="r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</a:pPr>
            <a:endParaRPr lang="en-GB" sz="1600" dirty="0" smtClean="0"/>
          </a:p>
          <a:p>
            <a:pPr lvl="0" algn="r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</a:pPr>
            <a:endParaRPr lang="en-GB" sz="1600" dirty="0" smtClean="0"/>
          </a:p>
          <a:p>
            <a:pPr lvl="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</a:pPr>
            <a:r>
              <a:rPr lang="en-GB" sz="1500" dirty="0"/>
              <a:t>3</a:t>
            </a:r>
            <a:r>
              <a:rPr lang="en-GB" sz="1500" dirty="0" smtClean="0"/>
              <a:t>.Have </a:t>
            </a:r>
            <a:r>
              <a:rPr lang="en-GB" sz="1500" dirty="0"/>
              <a:t>you heard of synthetic data?  </a:t>
            </a:r>
            <a:r>
              <a:rPr lang="en-GB" sz="1500" dirty="0" smtClean="0"/>
              <a:t>                       </a:t>
            </a:r>
            <a:r>
              <a:rPr lang="en-GB" sz="1500" dirty="0">
                <a:solidFill>
                  <a:schemeClr val="dk1"/>
                </a:solidFill>
              </a:rPr>
              <a:t>4</a:t>
            </a:r>
            <a:r>
              <a:rPr lang="en-GB" sz="1500" dirty="0" smtClean="0">
                <a:solidFill>
                  <a:schemeClr val="dk1"/>
                </a:solidFill>
              </a:rPr>
              <a:t>.</a:t>
            </a:r>
            <a:r>
              <a:rPr lang="en-GB" sz="1500" dirty="0" smtClean="0"/>
              <a:t> Do you think hospitals should be allowed to share patient data </a:t>
            </a:r>
            <a:r>
              <a:rPr lang="en-GB" sz="1500" dirty="0" err="1" smtClean="0"/>
              <a:t>withresearchers</a:t>
            </a:r>
            <a:r>
              <a:rPr lang="en-GB" sz="1500" dirty="0" smtClean="0"/>
              <a:t>? </a:t>
            </a:r>
            <a:r>
              <a:rPr lang="en-GB" sz="2400" dirty="0" smtClean="0"/>
              <a:t> </a:t>
            </a:r>
            <a:endParaRPr sz="2100" dirty="0" smtClean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3200"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" name="AutoShape 4" descr="Forms response chart. Question title: 1. Have you heard about healthcare data privacy before?. Number of responses: 17 responses.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512" y="1493594"/>
            <a:ext cx="3621246" cy="194684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5237" y="1300629"/>
            <a:ext cx="4331855" cy="189345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311" y="4428178"/>
            <a:ext cx="3605507" cy="185192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1194" y="4229816"/>
            <a:ext cx="5134131" cy="2050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92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87d7ab33d_1_475"/>
          <p:cNvSpPr txBox="1"/>
          <p:nvPr/>
        </p:nvSpPr>
        <p:spPr>
          <a:xfrm>
            <a:off x="155575" y="-132707"/>
            <a:ext cx="12295043" cy="6653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300" b="1" dirty="0">
                <a:solidFill>
                  <a:schemeClr val="dk1"/>
                </a:solidFill>
              </a:rPr>
              <a:t>Stakeholder Analysis</a:t>
            </a:r>
            <a:endParaRPr sz="3300" b="1" dirty="0">
              <a:solidFill>
                <a:schemeClr val="dk1"/>
              </a:solidFill>
            </a:endParaRPr>
          </a:p>
          <a:p>
            <a:pPr lvl="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</a:pPr>
            <a:r>
              <a:rPr lang="en-GB" sz="1600" dirty="0"/>
              <a:t>5.Would you trust artificially generated healthcare data for research?  </a:t>
            </a:r>
            <a:r>
              <a:rPr lang="en-GB" sz="1600" dirty="0" smtClean="0"/>
              <a:t>   6</a:t>
            </a:r>
            <a:r>
              <a:rPr lang="en-GB" sz="1600" dirty="0"/>
              <a:t>. Which is more important when </a:t>
            </a:r>
            <a:r>
              <a:rPr lang="en-GB" sz="1600" dirty="0" smtClean="0"/>
              <a:t>using healthcare data</a:t>
            </a:r>
            <a:r>
              <a:rPr lang="en-GB" sz="1600" dirty="0"/>
              <a:t>?  </a:t>
            </a:r>
            <a:endParaRPr lang="en-GB" sz="1500" dirty="0" smtClean="0"/>
          </a:p>
          <a:p>
            <a:pPr lvl="0" algn="r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</a:pPr>
            <a:endParaRPr lang="en-GB" sz="1600" dirty="0" smtClean="0"/>
          </a:p>
          <a:p>
            <a:pPr lvl="0" algn="r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</a:pPr>
            <a:endParaRPr lang="en-GB" sz="1600" dirty="0" smtClean="0"/>
          </a:p>
          <a:p>
            <a:pPr lvl="0" algn="r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</a:pPr>
            <a:endParaRPr lang="en-GB" sz="1600" dirty="0" smtClean="0"/>
          </a:p>
          <a:p>
            <a:pPr lvl="0" algn="r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</a:pPr>
            <a:endParaRPr lang="en-GB" sz="1600" dirty="0" smtClean="0"/>
          </a:p>
          <a:p>
            <a:pPr lvl="0" algn="r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</a:pPr>
            <a:endParaRPr lang="en-GB" sz="1600" dirty="0" smtClean="0"/>
          </a:p>
          <a:p>
            <a:pPr lvl="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</a:pPr>
            <a:r>
              <a:rPr lang="en-GB" sz="1500" dirty="0" smtClean="0"/>
              <a:t>7.If synthetic data </a:t>
            </a:r>
            <a:r>
              <a:rPr lang="en-GB" sz="1500" dirty="0" err="1" smtClean="0"/>
              <a:t>doesnot</a:t>
            </a:r>
            <a:r>
              <a:rPr lang="en-GB" sz="1500" dirty="0" smtClean="0"/>
              <a:t> contain real world</a:t>
            </a:r>
          </a:p>
          <a:p>
            <a:pPr lvl="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</a:pPr>
            <a:r>
              <a:rPr lang="en-GB" sz="1500" dirty="0"/>
              <a:t> </a:t>
            </a:r>
            <a:r>
              <a:rPr lang="en-GB" sz="1500" dirty="0" smtClean="0"/>
              <a:t>  </a:t>
            </a:r>
            <a:r>
              <a:rPr lang="en-GB" sz="1500" dirty="0" err="1" smtClean="0"/>
              <a:t>entities,would</a:t>
            </a:r>
            <a:r>
              <a:rPr lang="en-GB" sz="1500" dirty="0" smtClean="0"/>
              <a:t> you be more comfortable?                                                  </a:t>
            </a:r>
            <a:r>
              <a:rPr lang="en-GB" sz="1500" dirty="0"/>
              <a:t>8. What concerns would you have about synthetic </a:t>
            </a:r>
            <a:r>
              <a:rPr lang="en-GB" sz="1500" dirty="0" smtClean="0"/>
              <a:t>healthcare data</a:t>
            </a:r>
            <a:r>
              <a:rPr lang="en-GB" sz="1500" dirty="0"/>
              <a:t>?  </a:t>
            </a:r>
            <a:r>
              <a:rPr lang="en-GB" sz="2400" dirty="0" smtClean="0"/>
              <a:t> </a:t>
            </a:r>
            <a:endParaRPr sz="2100" dirty="0" smtClean="0">
              <a:solidFill>
                <a:schemeClr val="dk1"/>
              </a:solidFill>
            </a:endParaRPr>
          </a:p>
          <a:p>
            <a:pPr marL="0" lvl="0" indent="0" algn="r" rtl="0">
              <a:spcBef>
                <a:spcPts val="1200"/>
              </a:spcBef>
              <a:spcAft>
                <a:spcPts val="0"/>
              </a:spcAft>
              <a:buNone/>
            </a:pPr>
            <a:endParaRPr sz="3200"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" name="AutoShape 4" descr="Forms response chart. Question title: 1. Have you heard about healthcare data privacy before?. Number of responses: 17 responses.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375" y="4557487"/>
            <a:ext cx="3605507" cy="185192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539" y="1509973"/>
            <a:ext cx="3389178" cy="192648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921" y="1489978"/>
            <a:ext cx="4672441" cy="186708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3262" y="4557487"/>
            <a:ext cx="4615526" cy="1792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8730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87d7ab33d_1_483"/>
          <p:cNvSpPr txBox="1"/>
          <p:nvPr/>
        </p:nvSpPr>
        <p:spPr>
          <a:xfrm>
            <a:off x="279100" y="451875"/>
            <a:ext cx="10512900" cy="55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 b="1">
                <a:solidFill>
                  <a:schemeClr val="dk1"/>
                </a:solidFill>
              </a:rPr>
              <a:t>Problem Statement</a:t>
            </a:r>
            <a:endParaRPr sz="3200" b="1">
              <a:solidFill>
                <a:schemeClr val="dk1"/>
              </a:solidFill>
            </a:endParaRPr>
          </a:p>
          <a:p>
            <a:pPr marL="3810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Current synthetic data methods suffer from the </a:t>
            </a:r>
            <a:r>
              <a:rPr lang="en-US" sz="2000" b="1">
                <a:solidFill>
                  <a:schemeClr val="dk1"/>
                </a:solidFill>
              </a:rPr>
              <a:t>Uniformity Paradox:</a:t>
            </a:r>
            <a:r>
              <a:rPr lang="en-US" sz="2000">
                <a:solidFill>
                  <a:schemeClr val="dk1"/>
                </a:solidFill>
              </a:rPr>
              <a:t> applying identical privacy protection across heterogeneous healthcare attributes causes unnecessary clinical data distortion for low-risk features while failing to secure high-risk rare patient records.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>
                <a:solidFill>
                  <a:schemeClr val="dk1"/>
                </a:solidFill>
              </a:rPr>
              <a:t>Over-Protection</a:t>
            </a:r>
            <a:endParaRPr sz="20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      Low-risk fields (e.g., zip code) receive excessive noise, destroying clinical utility.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>
                <a:solidFill>
                  <a:schemeClr val="dk1"/>
                </a:solidFill>
              </a:rPr>
              <a:t>Under-Protection</a:t>
            </a:r>
            <a:endParaRPr sz="20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      High-risk rare patient records remain exposed to re-identification attacks.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41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g3f87e75da16_0_2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620293" cy="6553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f87d7ab33d_1_467"/>
          <p:cNvSpPr txBox="1">
            <a:spLocks noGrp="1"/>
          </p:cNvSpPr>
          <p:nvPr>
            <p:ph type="body" idx="2"/>
          </p:nvPr>
        </p:nvSpPr>
        <p:spPr>
          <a:xfrm>
            <a:off x="609600" y="478475"/>
            <a:ext cx="10871100" cy="5647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35484"/>
              <a:buFont typeface="Arial"/>
              <a:buNone/>
            </a:pPr>
            <a:r>
              <a:rPr lang="en-US" sz="3100" b="1">
                <a:latin typeface="Arial"/>
                <a:ea typeface="Arial"/>
                <a:cs typeface="Arial"/>
                <a:sym typeface="Arial"/>
              </a:rPr>
              <a:t>         Relevance to Sustainable Development Goals</a:t>
            </a:r>
            <a:endParaRPr sz="31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52179"/>
              <a:buFont typeface="Arial"/>
              <a:buNone/>
            </a:pPr>
            <a:r>
              <a:rPr lang="en-US" sz="2108" b="1">
                <a:latin typeface="Arial"/>
                <a:ea typeface="Arial"/>
                <a:cs typeface="Arial"/>
                <a:sym typeface="Arial"/>
              </a:rPr>
              <a:t>SDG 3 — Good Health &amp; Well-being</a:t>
            </a:r>
            <a:endParaRPr sz="2108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-US" sz="1600" b="1">
                <a:latin typeface="Arial"/>
                <a:ea typeface="Arial"/>
                <a:cs typeface="Arial"/>
                <a:sym typeface="Arial"/>
              </a:rPr>
              <a:t>Our Contribution:</a:t>
            </a:r>
            <a:endParaRPr sz="16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             Privacy-preserving synthetic healthcare data can support medical research and AI 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development   while reducing the risk of exposing sensitive patient information.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-US" sz="1600" b="1">
                <a:latin typeface="Arial"/>
                <a:ea typeface="Arial"/>
                <a:cs typeface="Arial"/>
                <a:sym typeface="Arial"/>
              </a:rPr>
              <a:t>Impact:</a:t>
            </a:r>
            <a:endParaRPr sz="16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          Safer healthcare data sharing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274320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52381"/>
              <a:buFont typeface="Arial"/>
              <a:buNone/>
            </a:pPr>
            <a:r>
              <a:rPr lang="en-US" sz="2100" b="1">
                <a:latin typeface="Arial"/>
                <a:ea typeface="Arial"/>
                <a:cs typeface="Arial"/>
                <a:sym typeface="Arial"/>
              </a:rPr>
              <a:t>SDG 9 — Industry, Innovation &amp; Infrastructure</a:t>
            </a:r>
            <a:endParaRPr sz="2100" b="1">
              <a:latin typeface="Arial"/>
              <a:ea typeface="Arial"/>
              <a:cs typeface="Arial"/>
              <a:sym typeface="Arial"/>
            </a:endParaRPr>
          </a:p>
          <a:p>
            <a:pPr marL="2743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-US" sz="1600" b="1">
                <a:latin typeface="Arial"/>
                <a:ea typeface="Arial"/>
                <a:cs typeface="Arial"/>
                <a:sym typeface="Arial"/>
              </a:rPr>
              <a:t>Our Contribution:</a:t>
            </a:r>
            <a:endParaRPr sz="1600" b="1">
              <a:latin typeface="Arial"/>
              <a:ea typeface="Arial"/>
              <a:cs typeface="Arial"/>
              <a:sym typeface="Arial"/>
            </a:endParaRPr>
          </a:p>
          <a:p>
            <a:pPr marL="2743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            Our proposed risk-aware privacy approach contributes to secure and responsible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2743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     AI-driven data-sharing infrastructure.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2743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-US" sz="1600" b="1">
                <a:latin typeface="Arial"/>
                <a:ea typeface="Arial"/>
                <a:cs typeface="Arial"/>
                <a:sym typeface="Arial"/>
              </a:rPr>
              <a:t>Impact: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latin typeface="Arial"/>
                <a:ea typeface="Arial"/>
                <a:cs typeface="Arial"/>
                <a:sym typeface="Arial"/>
              </a:rPr>
              <a:t>     Supports secure data-sharing systems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900" b="1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8" name="Google Shape;218;g3f87d7ab33d_1_467" descr="Soubor:Sustainable Development Goal 9.png – Wikipedi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5625" y="3689975"/>
            <a:ext cx="2137125" cy="213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g3f87d7ab33d_1_467" descr="File:Sustainable Development Goal 3.png - Wikimedia Common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35538" y="971425"/>
            <a:ext cx="2137148" cy="2137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5"/>
          <p:cNvSpPr txBox="1">
            <a:spLocks noGrp="1"/>
          </p:cNvSpPr>
          <p:nvPr>
            <p:ph type="body" idx="1"/>
          </p:nvPr>
        </p:nvSpPr>
        <p:spPr>
          <a:xfrm rot="10800000">
            <a:off x="-1452880" y="1361245"/>
            <a:ext cx="467360" cy="45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20000"/>
              <a:buNone/>
            </a:pPr>
            <a:endParaRPr/>
          </a:p>
        </p:txBody>
      </p:sp>
      <p:sp>
        <p:nvSpPr>
          <p:cNvPr id="225" name="Google Shape;225;p35"/>
          <p:cNvSpPr txBox="1">
            <a:spLocks noGrp="1"/>
          </p:cNvSpPr>
          <p:nvPr>
            <p:ph type="body" idx="2"/>
          </p:nvPr>
        </p:nvSpPr>
        <p:spPr>
          <a:xfrm>
            <a:off x="1737360" y="894736"/>
            <a:ext cx="8315632" cy="5487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 b="1">
                <a:latin typeface="Arial"/>
                <a:ea typeface="Arial"/>
                <a:cs typeface="Arial"/>
                <a:sym typeface="Arial"/>
              </a:rPr>
              <a:t>                         Key References</a:t>
            </a:r>
            <a:endParaRPr sz="26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Lyu et al. (2024)</a:t>
            </a:r>
            <a:endParaRPr sz="14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Edge-DPSDG: Edge-based Differential Privacy for Smart Healthcare.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Appenzeller et al. (2022)</a:t>
            </a:r>
            <a:endParaRPr sz="14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Privacy and Utility of Private Synthetic Data.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Zhu et al. (2023)</a:t>
            </a:r>
            <a:endParaRPr sz="14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Generating synthetic mixed-type longitudinal EHR datasets.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Xu et al. (2025)</a:t>
            </a:r>
            <a:endParaRPr sz="14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TableDiffusion: A Diffusion-Based Framework for Tabular Synthesis.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Rankin, D. et al. (2020)</a:t>
            </a:r>
            <a:endParaRPr sz="14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Reliability of Supervised Machine Learning Using Synthetic Data in Health Care: Model to Preserve Privacy for Data Sharing.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6604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560"/>
              <a:buNone/>
            </a:pPr>
            <a:endParaRPr sz="35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7"/>
          <p:cNvSpPr txBox="1">
            <a:spLocks noGrp="1"/>
          </p:cNvSpPr>
          <p:nvPr>
            <p:ph type="title"/>
          </p:nvPr>
        </p:nvSpPr>
        <p:spPr>
          <a:xfrm>
            <a:off x="2452662" y="242886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</a:pPr>
            <a:r>
              <a:rPr lang="en-US"/>
              <a:t>Thank You!!!</a:t>
            </a:r>
            <a:endParaRPr/>
          </a:p>
        </p:txBody>
      </p:sp>
      <p:sp>
        <p:nvSpPr>
          <p:cNvPr id="231" name="Google Shape;231;p17"/>
          <p:cNvSpPr txBox="1">
            <a:spLocks noGrp="1"/>
          </p:cNvSpPr>
          <p:nvPr>
            <p:ph type="ftr" idx="11"/>
          </p:nvPr>
        </p:nvSpPr>
        <p:spPr>
          <a:xfrm>
            <a:off x="7239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14IS340 - Project Phase-I</a:t>
            </a:r>
            <a:endParaRPr/>
          </a:p>
        </p:txBody>
      </p:sp>
      <p:sp>
        <p:nvSpPr>
          <p:cNvPr id="232" name="Google Shape;232;p17"/>
          <p:cNvSpPr txBox="1">
            <a:spLocks noGrp="1"/>
          </p:cNvSpPr>
          <p:nvPr>
            <p:ph type="sldNum" idx="12"/>
          </p:nvPr>
        </p:nvSpPr>
        <p:spPr>
          <a:xfrm>
            <a:off x="10137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olstice">
  <a:themeElements>
    <a:clrScheme name="Solstice">
      <a:dk1>
        <a:srgbClr val="000000"/>
      </a:dk1>
      <a:lt1>
        <a:srgbClr val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774</Words>
  <Application>Microsoft Office PowerPoint</Application>
  <PresentationFormat>Widescreen</PresentationFormat>
  <Paragraphs>212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Roboto</vt:lpstr>
      <vt:lpstr>Gill Sans</vt:lpstr>
      <vt:lpstr>Noto Sans Symbols</vt:lpstr>
      <vt:lpstr>Calibri</vt:lpstr>
      <vt:lpstr>Times New Roman</vt:lpstr>
      <vt:lpstr>Arial Narrow</vt:lpstr>
      <vt:lpstr>Verdana</vt:lpstr>
      <vt:lpstr>Arial</vt:lpstr>
      <vt:lpstr>Solstice</vt:lpstr>
      <vt:lpstr>Risk-Aware Privacy Budget Allocation for GAN-Based Synthetic Data Generation</vt:lpstr>
      <vt:lpstr>Presentation Overview</vt:lpstr>
      <vt:lpstr>PowerPoint Presentation</vt:lpstr>
      <vt:lpstr>Introduction</vt:lpstr>
      <vt:lpstr>Literature Survey Progress</vt:lpstr>
      <vt:lpstr>System Analysis Progress</vt:lpstr>
      <vt:lpstr>Objective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You!!!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Risk-Aware Privacy Budget Allocation for GAN-Based Synthetic Data Generation</dc:title>
  <dc:creator>pc</dc:creator>
  <cp:lastModifiedBy>Microsoft account</cp:lastModifiedBy>
  <cp:revision>8</cp:revision>
  <dcterms:created xsi:type="dcterms:W3CDTF">2017-03-01T13:13:02Z</dcterms:created>
  <dcterms:modified xsi:type="dcterms:W3CDTF">2026-08-27T17:12:22Z</dcterms:modified>
</cp:coreProperties>
</file>